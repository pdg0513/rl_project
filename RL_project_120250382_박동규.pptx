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0"/>
  </p:notesMasterIdLst>
  <p:sldIdLst>
    <p:sldId id="273" r:id="rId5"/>
    <p:sldId id="259" r:id="rId6"/>
    <p:sldId id="274" r:id="rId7"/>
    <p:sldId id="275" r:id="rId8"/>
    <p:sldId id="276" r:id="rId9"/>
    <p:sldId id="277" r:id="rId10"/>
    <p:sldId id="278" r:id="rId11"/>
    <p:sldId id="279" r:id="rId12"/>
    <p:sldId id="280" r:id="rId13"/>
    <p:sldId id="281" r:id="rId14"/>
    <p:sldId id="282" r:id="rId15"/>
    <p:sldId id="283" r:id="rId16"/>
    <p:sldId id="284" r:id="rId17"/>
    <p:sldId id="285" r:id="rId18"/>
    <p:sldId id="286" r:id="rId1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56962" autoAdjust="0"/>
  </p:normalViewPr>
  <p:slideViewPr>
    <p:cSldViewPr snapToGrid="0">
      <p:cViewPr varScale="1">
        <p:scale>
          <a:sx n="47" d="100"/>
          <a:sy n="47" d="100"/>
        </p:scale>
        <p:origin x="2064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1A65AE-81B2-4ECE-AB97-AAF416A8471E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F72744-E94E-4796-9A9E-D579386EF5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22075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1F6F01-321F-420F-8F24-DA039A9F3597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75810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1F6F01-321F-420F-8F24-DA039A9F3597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31744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25A98E-1F8F-5643-D0F3-B5D48EA32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15AE448-B5CE-18EB-57D7-495CAF8D6A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3249DA8-063E-3B9D-B9ED-889868C344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7917FB3-B5BB-A044-4913-91784FFFEB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1F6F01-321F-420F-8F24-DA039A9F3597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51325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EB9609-D5F8-E4C3-423A-86DE0667DB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B9192AF-EC11-5C91-8320-6FAAE795E5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A621E12-C8F0-4876-739E-51A6E6A8BC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0E4FF57-99BF-B4E3-35D5-6DCEC70659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1F6F01-321F-420F-8F24-DA039A9F3597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91655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07AA3B-D695-5C80-3EF0-1E981CD347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41AAEA4-A79A-29C0-31EC-59D1E08858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48A77A1-2439-9728-66CF-A7DB2B2DBD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59FB38A-8512-6C0E-D3B2-E4B44589E4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1F6F01-321F-420F-8F24-DA039A9F3597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68980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A254B5-7B9A-5312-3A62-C057B71EBF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C65F870-EF24-D9D9-6E53-4B7F101228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982174F-DA02-162E-F316-91DC2D36C4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BB22989-469D-5364-C444-5E258DFF27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1F6F01-321F-420F-8F24-DA039A9F3597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26171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480216-11A2-385E-E547-716BFD5C9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265DA57-4666-83AE-0254-7183C97F2B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F75C36D-4263-0778-5629-C55F0B29B4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7C8772A-D46A-5E90-DE5C-5D5F4A0AE0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1F6F01-321F-420F-8F24-DA039A9F3597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73694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C77F07-7FAF-4C06-FFDD-3C0D69DBAF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6B7282E-303A-18D1-19A9-D965DF39E1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64AC600-BC19-58B6-4F38-41F8899814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495E814-EFD9-B83E-D2F8-93CCF63D6B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1F6F01-321F-420F-8F24-DA039A9F3597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20505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0210B2-1A85-817D-BE75-A0A0E52433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5BC4BF7-AE52-CD1D-EDA7-8EAAC70FE7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C3B6922-A3A0-A739-9DE8-20529F1B98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9B36FBD-35FB-0B13-3843-503EC9FF38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1F6F01-321F-420F-8F24-DA039A9F3597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49021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6FB4A1-2059-A4F6-22CC-84F966283B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B33C513-988F-CE01-FA63-13B60FDEE1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BDD51CD-F44A-5550-2850-C81B357CA6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9E0C78B-31D5-132E-28C8-07FE38603F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1F6F01-321F-420F-8F24-DA039A9F3597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108440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463571-9253-ADF8-46C4-E126680085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0A42158-DB5D-50AA-AEBE-976E519766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65E11D7-0188-0AB6-4959-4710B6F626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A3F4215-DD6D-FA38-619B-32B9C2881D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1F6F01-321F-420F-8F24-DA039A9F3597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329507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DAC477-FA67-F8FF-3BF9-5828BF5CA1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EE5AA1D-5DEB-5AF0-6A4A-CB5E48BB8D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27ABE2A-7D90-4078-B580-EAE04E5898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75DD6C8-EC1F-8232-C3F8-9F6AF64EDF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1F6F01-321F-420F-8F24-DA039A9F3597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823642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F5ABDE-D7EE-4532-AE50-386C7C8887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CA44D36-D095-BF93-09A4-861328C732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C903DD9-34F3-B057-22B1-6EE8B03BAA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5D3AE2F-A384-6A11-3060-77FD6BC932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1F6F01-321F-420F-8F24-DA039A9F3597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193401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66BF48-DE54-710C-275D-5122CD1089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5C9985B-EF3E-AB6B-D412-FD856DD93E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53CB35C-E081-60BF-B5B7-B358212642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05D9FE0-3F68-282E-4F54-AD700D3DD1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1F6F01-321F-420F-8F24-DA039A9F3597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781147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DB20E8-1444-94F6-1D13-2A3F589E4A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5A4A70C-5C37-658E-3936-AC252FE8E5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5DA8DCB-15A6-23B5-0B38-F1FC92B60F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CA5BA38-CA52-9205-A523-6B59286C94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1F6F01-321F-420F-8F24-DA039A9F3597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98505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D7E65A-D86C-69A3-4E40-A92BE1FDC9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A7BEA45-EAC2-848D-8381-DD3E9BB76A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71C1849-0F80-50D4-7813-BF217FFAD9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307D7-0504-46EC-8C40-83FF7D92DB53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335F064-D934-7D8F-3F5B-9F5EC75A85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DE6A07B-6EEA-A49A-30D1-4541BD2A9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7EC76-7930-470F-ABFE-11DAD1163D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90111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9F2E63-4FC1-BAAF-DAA2-8F68B849EE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1EA5F94-EB2A-4EDB-38B3-ACE42E761B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0F8D864-B5EE-98CF-660C-DFEDD0470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307D7-0504-46EC-8C40-83FF7D92DB53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1649AC7-9624-462A-4F66-A0D24D2D2F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DE36C9F-68FB-4DEB-97E5-0CE24C50F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7EC76-7930-470F-ABFE-11DAD1163D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06860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A64B6D-3C74-A4A2-17B9-91DD45D069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47E502C-20F4-3692-DB70-7DD475D009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3438992-55AD-251D-6BE3-75874E7F33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307D7-0504-46EC-8C40-83FF7D92DB53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EA853DE-28D5-B96A-35E2-1047854A2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BAD5121-9A57-082B-2DEC-02ECE7E34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7EC76-7930-470F-ABFE-11DAD1163D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85236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A158DF-2C95-560D-325B-5D67483B40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DCA6EFF-AC94-1A86-6454-DAC9AE00F8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C404A6A-AECF-AA8C-B54E-C525AF4FEF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02A2C91-A888-5DAF-B646-826594016E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307D7-0504-46EC-8C40-83FF7D92DB53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0CA39AC-622F-9E67-AB1B-B2B2726CF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4420F38-9F0D-0FDB-1AEF-088D37A3F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7EC76-7930-470F-ABFE-11DAD1163D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60369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2600BD-53A9-EC5A-6F97-710EEB5EEA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42538B4-E542-4F98-B458-5878F3CFFD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E660D2C-F205-33E1-3551-5E9F058E71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EFCCE52-304D-9232-24B9-6DA05FF3DC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022D7C2-E91B-DE71-E118-26645D01D5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F3951CA-90B2-79B9-4045-E545EADC48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307D7-0504-46EC-8C40-83FF7D92DB53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2BD84BB-4A82-DAAE-8BB6-2F5375C56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EB26035-B7B5-027E-0007-553293A5D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7EC76-7930-470F-ABFE-11DAD1163D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2648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F8E3F6-9ACE-65BA-4A4E-5A483ACF6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E520169-867C-C804-2140-20F49C679D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307D7-0504-46EC-8C40-83FF7D92DB53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06ED6F4-48E9-300B-D141-49083FF751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ADE030D-4010-0B26-78D3-9EEC84D87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7EC76-7930-470F-ABFE-11DAD1163D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50010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317E1DD-A429-4C0F-7C4A-6C9ABDCF30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307D7-0504-46EC-8C40-83FF7D92DB53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31EE565-0518-AF6D-6008-73F0C468EB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0ECB7FE-B405-7091-5FAE-C8F6EE3909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7EC76-7930-470F-ABFE-11DAD1163D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2099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A2A2FF-CD0E-E04D-D47C-7EA089EC1C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63645E1-BCD0-205F-3071-EED6204C88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7500A79-7325-8FFE-5028-1D19804E82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7DD7ADD-D82B-E713-2DE9-3590664C2C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307D7-0504-46EC-8C40-83FF7D92DB53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9C521D7-A9A6-62A4-E656-E3682E57E6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35813AE-34E6-75C9-2EC8-346606F44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7EC76-7930-470F-ABFE-11DAD1163D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64016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7F84C9-AEE9-D60F-41BD-5AC50C220C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4ECBEF0-4952-4728-B82C-0D5EAE36290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6979566-B00A-E795-F481-79838F5E7D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E7B1F4E-4849-E0C4-9FAF-5161D16C6B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307D7-0504-46EC-8C40-83FF7D92DB53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EADC541-86F6-CB0C-3552-C7D4E60A5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3D7946D-4F05-E6F9-2767-C26DFF146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7EC76-7930-470F-ABFE-11DAD1163D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83038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FFF262-0488-121E-01F1-100A79450D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D8E624D-3FCB-792D-77BD-B2DCB9B0CE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1D3EF9-5465-B6E5-3A4B-1F5F955230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307D7-0504-46EC-8C40-83FF7D92DB53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A0F9052-9981-EAE5-76E7-0304D6B39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D92DC75-A278-DF9E-6F1E-C61326E6D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7EC76-7930-470F-ABFE-11DAD1163D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20414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8670E98-B997-D101-6538-9F43B4DA53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026D65C-537E-887D-46C0-0893C835A6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0D7CCAB-FF31-D635-A0E6-683CEBBBFD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307D7-0504-46EC-8C40-83FF7D92DB53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C1C0D9D-37B6-4B4D-142B-FA4B8E8BA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F07846D-59E4-09E8-530F-D5847CDD5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7EC76-7930-470F-ABFE-11DAD1163D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08606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951C01C-CCDC-8A7A-BF3F-5EA5943BF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7A858A0-69DA-E0A1-8C82-75C8C8F3BD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873C924-FDDA-11D0-D610-6C4DDE3AA7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7307D7-0504-46EC-8C40-83FF7D92DB53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1C377B5-3409-EB62-83C2-0B6E19685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B84E08C-E086-5595-B251-D2C07B74CF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17EC76-7930-470F-ABFE-11DAD1163D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89415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pdg0513/RL_project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3F8F93DE-7C60-5E2F-FA46-F3819C777DFF}"/>
              </a:ext>
            </a:extLst>
          </p:cNvPr>
          <p:cNvSpPr txBox="1">
            <a:spLocks/>
          </p:cNvSpPr>
          <p:nvPr/>
        </p:nvSpPr>
        <p:spPr>
          <a:xfrm>
            <a:off x="1553677" y="316381"/>
            <a:ext cx="9881240" cy="265895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sz="2900" b="1" dirty="0"/>
              <a:t>Middle finger trajectory tracking </a:t>
            </a:r>
            <a:r>
              <a:rPr lang="ko-KR" altLang="en-US" sz="2900" b="1" dirty="0"/>
              <a:t>을 위한</a:t>
            </a:r>
            <a:endParaRPr lang="en-US" altLang="ko-KR" sz="2900" b="1" dirty="0"/>
          </a:p>
          <a:p>
            <a:pPr algn="l"/>
            <a:r>
              <a:rPr lang="en-US" altLang="ko-KR" sz="2900" b="1" dirty="0"/>
              <a:t>PPO</a:t>
            </a:r>
            <a:r>
              <a:rPr lang="ko-KR" altLang="en-US" sz="2900" b="1" dirty="0"/>
              <a:t> 기반 </a:t>
            </a:r>
            <a:r>
              <a:rPr lang="en-US" altLang="ko-KR" sz="2900" b="1" dirty="0"/>
              <a:t>Motor Control </a:t>
            </a:r>
            <a:r>
              <a:rPr lang="ko-KR" altLang="en-US" sz="2900" b="1" dirty="0"/>
              <a:t>학습</a:t>
            </a:r>
          </a:p>
        </p:txBody>
      </p:sp>
      <p:sp>
        <p:nvSpPr>
          <p:cNvPr id="6" name="부제목 2">
            <a:extLst>
              <a:ext uri="{FF2B5EF4-FFF2-40B4-BE49-F238E27FC236}">
                <a16:creationId xmlns:a16="http://schemas.microsoft.com/office/drawing/2014/main" id="{64AF1953-9B4C-D7DE-D076-5BF229AE55AE}"/>
              </a:ext>
            </a:extLst>
          </p:cNvPr>
          <p:cNvSpPr txBox="1">
            <a:spLocks/>
          </p:cNvSpPr>
          <p:nvPr/>
        </p:nvSpPr>
        <p:spPr>
          <a:xfrm>
            <a:off x="3902529" y="5163770"/>
            <a:ext cx="7532388" cy="118611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ko-KR" altLang="en-US" sz="2000" dirty="0"/>
              <a:t>인공지능학과</a:t>
            </a:r>
            <a:br>
              <a:rPr lang="en-US" altLang="ko-KR" sz="2000" dirty="0"/>
            </a:br>
            <a:r>
              <a:rPr lang="en-US" altLang="ko-KR" sz="2000" dirty="0"/>
              <a:t>120250382 </a:t>
            </a:r>
            <a:r>
              <a:rPr lang="ko-KR" altLang="en-US" sz="2000" dirty="0"/>
              <a:t>박동규</a:t>
            </a:r>
            <a:endParaRPr lang="en-US" altLang="ko-KR" sz="2000" dirty="0"/>
          </a:p>
          <a:p>
            <a:pPr algn="r"/>
            <a:r>
              <a:rPr lang="en-US" altLang="ko-KR" sz="2000" dirty="0">
                <a:hlinkClick r:id="rId3"/>
              </a:rPr>
              <a:t>GitHub - pdg0513/</a:t>
            </a:r>
            <a:r>
              <a:rPr lang="en-US" altLang="ko-KR" sz="2000" dirty="0" err="1">
                <a:hlinkClick r:id="rId3"/>
              </a:rPr>
              <a:t>RL_project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4004495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321"/>
    </mc:Choice>
    <mc:Fallback xmlns="">
      <p:transition spd="slow" advTm="332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AD4143A0-74B4-5BEA-6DB1-792B4F90FC2B}"/>
              </a:ext>
            </a:extLst>
          </p:cNvPr>
          <p:cNvSpPr txBox="1"/>
          <p:nvPr/>
        </p:nvSpPr>
        <p:spPr>
          <a:xfrm>
            <a:off x="880557" y="742224"/>
            <a:ext cx="25891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2400" b="1" spc="-60" dirty="0">
                <a:latin typeface="Pretendard Medium" panose="02000503000000020004" pitchFamily="2" charset="-127"/>
                <a:ea typeface="Pretendard Medium" panose="02000503000000020004" pitchFamily="2" charset="-127"/>
              </a:rPr>
              <a:t>연구 배경 및 목표</a:t>
            </a:r>
            <a:endParaRPr kumimoji="1" lang="en-US" altLang="ko-KR" sz="2400" b="1" spc="-60" dirty="0">
              <a:latin typeface="Pretendard Medium" panose="02000503000000020004" pitchFamily="2" charset="-127"/>
              <a:ea typeface="Pretendard Medium" panose="02000503000000020004" pitchFamily="2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27E6BA4-7F43-98F5-31A5-2A3B51926648}"/>
              </a:ext>
            </a:extLst>
          </p:cNvPr>
          <p:cNvSpPr/>
          <p:nvPr/>
        </p:nvSpPr>
        <p:spPr>
          <a:xfrm>
            <a:off x="714703" y="794381"/>
            <a:ext cx="147145" cy="357352"/>
          </a:xfrm>
          <a:prstGeom prst="rect">
            <a:avLst/>
          </a:prstGeom>
          <a:solidFill>
            <a:srgbClr val="DA0F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US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6307DFF-F2BD-7D31-ACA6-95002EF10A4A}"/>
              </a:ext>
            </a:extLst>
          </p:cNvPr>
          <p:cNvSpPr txBox="1"/>
          <p:nvPr/>
        </p:nvSpPr>
        <p:spPr>
          <a:xfrm>
            <a:off x="788275" y="1728738"/>
            <a:ext cx="9636820" cy="507831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2000" b="1" i="0" dirty="0">
                <a:solidFill>
                  <a:srgbClr val="000000"/>
                </a:solidFill>
                <a:effectLst/>
                <a:latin typeface="NotoSansKR"/>
              </a:rPr>
              <a:t>인간 손의 세밀한 관절 움직임을 </a:t>
            </a:r>
            <a:r>
              <a:rPr lang="ko-KR" altLang="en-US" sz="2000" b="1" dirty="0">
                <a:solidFill>
                  <a:srgbClr val="000000"/>
                </a:solidFill>
                <a:latin typeface="NotoSansKR"/>
              </a:rPr>
              <a:t>물리 시뮬레이터</a:t>
            </a:r>
            <a:r>
              <a:rPr lang="en-US" altLang="ko-KR" sz="2000" b="1" dirty="0">
                <a:solidFill>
                  <a:srgbClr val="000000"/>
                </a:solidFill>
                <a:latin typeface="NotoSansKR"/>
              </a:rPr>
              <a:t>(</a:t>
            </a:r>
            <a:r>
              <a:rPr lang="en-US" altLang="ko-KR" sz="2000" b="1" dirty="0" err="1">
                <a:solidFill>
                  <a:srgbClr val="000000"/>
                </a:solidFill>
                <a:latin typeface="NotoSansKR"/>
              </a:rPr>
              <a:t>MyoSuite</a:t>
            </a:r>
            <a:r>
              <a:rPr lang="en-US" altLang="ko-KR" sz="2000" b="1" dirty="0">
                <a:solidFill>
                  <a:srgbClr val="000000"/>
                </a:solidFill>
                <a:latin typeface="NotoSansKR"/>
              </a:rPr>
              <a:t>/</a:t>
            </a:r>
            <a:r>
              <a:rPr lang="en-US" altLang="ko-KR" sz="2000" b="1" dirty="0" err="1">
                <a:solidFill>
                  <a:srgbClr val="000000"/>
                </a:solidFill>
                <a:latin typeface="NotoSansKR"/>
              </a:rPr>
              <a:t>MuJoCo</a:t>
            </a:r>
            <a:r>
              <a:rPr lang="en-US" altLang="ko-KR" sz="2000" b="1" dirty="0">
                <a:solidFill>
                  <a:srgbClr val="000000"/>
                </a:solidFill>
                <a:latin typeface="NotoSansKR"/>
              </a:rPr>
              <a:t>) </a:t>
            </a:r>
            <a:r>
              <a:rPr lang="ko-KR" altLang="en-US" sz="2000" b="1" dirty="0">
                <a:solidFill>
                  <a:srgbClr val="000000"/>
                </a:solidFill>
                <a:latin typeface="NotoSansKR"/>
              </a:rPr>
              <a:t>에서 재현하는 것은 </a:t>
            </a:r>
            <a:r>
              <a:rPr lang="ko-KR" altLang="en-US" sz="2000" b="1" dirty="0" err="1">
                <a:solidFill>
                  <a:srgbClr val="000000"/>
                </a:solidFill>
                <a:latin typeface="NotoSansKR"/>
              </a:rPr>
              <a:t>로보틱스</a:t>
            </a:r>
            <a:r>
              <a:rPr lang="en-US" altLang="ko-KR" sz="2000" b="1" dirty="0">
                <a:solidFill>
                  <a:srgbClr val="000000"/>
                </a:solidFill>
                <a:latin typeface="NotoSansKR"/>
              </a:rPr>
              <a:t>/</a:t>
            </a:r>
            <a:r>
              <a:rPr lang="ko-KR" altLang="en-US" sz="2000" b="1" dirty="0">
                <a:solidFill>
                  <a:srgbClr val="000000"/>
                </a:solidFill>
                <a:latin typeface="NotoSansKR"/>
              </a:rPr>
              <a:t>재활공학</a:t>
            </a:r>
            <a:r>
              <a:rPr lang="en-US" altLang="ko-KR" sz="2000" b="1" dirty="0">
                <a:solidFill>
                  <a:srgbClr val="000000"/>
                </a:solidFill>
                <a:latin typeface="NotoSansKR"/>
              </a:rPr>
              <a:t>/</a:t>
            </a:r>
            <a:r>
              <a:rPr lang="ko-KR" altLang="en-US" sz="2000" b="1" dirty="0">
                <a:solidFill>
                  <a:srgbClr val="000000"/>
                </a:solidFill>
                <a:latin typeface="NotoSansKR"/>
              </a:rPr>
              <a:t>생체역학 분야에서 중요한 문제</a:t>
            </a:r>
            <a:endParaRPr lang="en-US" altLang="ko-KR" sz="2000" b="1" dirty="0">
              <a:solidFill>
                <a:srgbClr val="000000"/>
              </a:solidFill>
              <a:latin typeface="NotoSansKR"/>
            </a:endParaRP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ko-KR" sz="2000" b="1" i="0" dirty="0">
              <a:solidFill>
                <a:srgbClr val="000000"/>
              </a:solidFill>
              <a:effectLst/>
              <a:latin typeface="NotoSansKR"/>
            </a:endParaRP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2000" b="1" dirty="0">
                <a:solidFill>
                  <a:srgbClr val="000000"/>
                </a:solidFill>
                <a:latin typeface="NotoSansKR"/>
              </a:rPr>
              <a:t>본 연구에서는 실제로 측정된 빠른 움직임에 대한 </a:t>
            </a:r>
            <a:r>
              <a:rPr lang="en-US" altLang="ko-KR" sz="2000" b="1" dirty="0">
                <a:solidFill>
                  <a:srgbClr val="000000"/>
                </a:solidFill>
                <a:latin typeface="NotoSansKR"/>
              </a:rPr>
              <a:t>Joint Angle Trajectory </a:t>
            </a:r>
            <a:r>
              <a:rPr lang="ko-KR" altLang="en-US" sz="2000" b="1" dirty="0">
                <a:solidFill>
                  <a:srgbClr val="000000"/>
                </a:solidFill>
                <a:latin typeface="NotoSansKR"/>
              </a:rPr>
              <a:t>를 </a:t>
            </a:r>
            <a:r>
              <a:rPr lang="en-US" altLang="ko-KR" sz="2000" b="1" dirty="0" err="1">
                <a:solidFill>
                  <a:srgbClr val="000000"/>
                </a:solidFill>
                <a:latin typeface="NotoSansKR"/>
              </a:rPr>
              <a:t>MyoHand</a:t>
            </a:r>
            <a:r>
              <a:rPr lang="en-US" altLang="ko-KR" sz="2000" b="1" dirty="0">
                <a:solidFill>
                  <a:srgbClr val="000000"/>
                </a:solidFill>
                <a:latin typeface="NotoSansKR"/>
              </a:rPr>
              <a:t> </a:t>
            </a:r>
            <a:r>
              <a:rPr lang="ko-KR" altLang="en-US" sz="2000" b="1" dirty="0">
                <a:solidFill>
                  <a:srgbClr val="000000"/>
                </a:solidFill>
                <a:latin typeface="NotoSansKR"/>
              </a:rPr>
              <a:t>시뮬레이션 환경에서 강화학습으로 추종하는 </a:t>
            </a:r>
            <a:r>
              <a:rPr lang="en-US" altLang="ko-KR" sz="2000" b="1" dirty="0">
                <a:solidFill>
                  <a:srgbClr val="000000"/>
                </a:solidFill>
                <a:latin typeface="NotoSansKR"/>
              </a:rPr>
              <a:t>policy</a:t>
            </a:r>
            <a:r>
              <a:rPr lang="ko-KR" altLang="en-US" sz="2000" b="1" dirty="0">
                <a:solidFill>
                  <a:srgbClr val="000000"/>
                </a:solidFill>
                <a:latin typeface="NotoSansKR"/>
              </a:rPr>
              <a:t>를 학습하고자 함</a:t>
            </a:r>
            <a:endParaRPr lang="en-US" altLang="ko-KR" sz="2000" b="1" dirty="0">
              <a:solidFill>
                <a:srgbClr val="000000"/>
              </a:solidFill>
              <a:latin typeface="NotoSansKR"/>
            </a:endParaRP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ko-KR" sz="2000" b="1" i="0" dirty="0">
              <a:solidFill>
                <a:srgbClr val="000000"/>
              </a:solidFill>
              <a:effectLst/>
              <a:latin typeface="NotoSansKR"/>
            </a:endParaRP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2000" b="1" dirty="0">
                <a:solidFill>
                  <a:srgbClr val="000000"/>
                </a:solidFill>
                <a:latin typeface="NotoSansKR"/>
              </a:rPr>
              <a:t>목표</a:t>
            </a:r>
            <a:endParaRPr lang="en-US" altLang="ko-KR" sz="2000" b="1" dirty="0">
              <a:solidFill>
                <a:srgbClr val="000000"/>
              </a:solidFill>
              <a:latin typeface="NotoSansKR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>
                <a:solidFill>
                  <a:srgbClr val="000000"/>
                </a:solidFill>
                <a:latin typeface="NotoSansKR"/>
              </a:rPr>
              <a:t>Random policy </a:t>
            </a:r>
            <a:r>
              <a:rPr lang="ko-KR" altLang="en-US" sz="2000" b="1" dirty="0">
                <a:solidFill>
                  <a:srgbClr val="000000"/>
                </a:solidFill>
                <a:latin typeface="NotoSansKR"/>
              </a:rPr>
              <a:t>대비 </a:t>
            </a:r>
            <a:r>
              <a:rPr lang="en-US" altLang="ko-KR" sz="2000" b="1" dirty="0">
                <a:solidFill>
                  <a:srgbClr val="000000"/>
                </a:solidFill>
                <a:latin typeface="NotoSansKR"/>
              </a:rPr>
              <a:t>trajectory tracking </a:t>
            </a:r>
            <a:r>
              <a:rPr lang="ko-KR" altLang="en-US" sz="2000" b="1" dirty="0" err="1">
                <a:solidFill>
                  <a:srgbClr val="000000"/>
                </a:solidFill>
                <a:latin typeface="NotoSansKR"/>
              </a:rPr>
              <a:t>설능향상</a:t>
            </a:r>
            <a:endParaRPr lang="en-US" altLang="ko-KR" sz="2000" b="1" dirty="0">
              <a:solidFill>
                <a:srgbClr val="000000"/>
              </a:solidFill>
              <a:latin typeface="NotoSansKR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2000" b="1" i="0" dirty="0">
                <a:solidFill>
                  <a:srgbClr val="000000"/>
                </a:solidFill>
                <a:effectLst/>
                <a:latin typeface="NotoSansKR"/>
              </a:rPr>
              <a:t>향후 토크</a:t>
            </a:r>
            <a:r>
              <a:rPr lang="en-US" altLang="ko-KR" sz="2000" b="1" dirty="0">
                <a:solidFill>
                  <a:srgbClr val="000000"/>
                </a:solidFill>
                <a:latin typeface="NotoSansKR"/>
              </a:rPr>
              <a:t>, </a:t>
            </a:r>
            <a:r>
              <a:rPr lang="ko-KR" altLang="en-US" sz="2000" b="1" dirty="0">
                <a:solidFill>
                  <a:srgbClr val="000000"/>
                </a:solidFill>
                <a:latin typeface="NotoSansKR"/>
              </a:rPr>
              <a:t>임피던스 추론 및 실제 제어기 설계의 기반 모델 확보</a:t>
            </a:r>
            <a:endParaRPr lang="en-US" altLang="ko-KR" sz="2000" b="1" i="0" dirty="0">
              <a:solidFill>
                <a:srgbClr val="00B0F0"/>
              </a:solidFill>
              <a:effectLst/>
              <a:latin typeface="NotoSansKR"/>
            </a:endParaRPr>
          </a:p>
          <a:p>
            <a:pPr marL="800100" lvl="1" indent="-342900">
              <a:buFont typeface="Wingdings" panose="05000000000000000000" pitchFamily="2" charset="2"/>
              <a:buChar char="l"/>
            </a:pPr>
            <a:endParaRPr lang="ko-KR" altLang="en-US" b="0" i="0" dirty="0">
              <a:solidFill>
                <a:srgbClr val="000000"/>
              </a:solidFill>
              <a:effectLst/>
              <a:latin typeface="NotoSansKR"/>
            </a:endParaRPr>
          </a:p>
          <a:p>
            <a:pPr algn="l"/>
            <a:r>
              <a:rPr lang="en-US" altLang="ko-KR" b="0" i="0" dirty="0">
                <a:effectLst/>
                <a:latin typeface="NotoSansKR"/>
              </a:rPr>
              <a:t>	</a:t>
            </a:r>
            <a:br>
              <a:rPr lang="ko-KR" altLang="en-US" b="0" i="0" dirty="0">
                <a:effectLst/>
                <a:latin typeface="NotoSansKR"/>
              </a:rPr>
            </a:b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369176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222"/>
    </mc:Choice>
    <mc:Fallback xmlns="">
      <p:transition spd="slow" advTm="2222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059108-57C2-1BF3-FDD3-D7B651506C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86D16457-A137-111C-7A86-57D669E7665B}"/>
              </a:ext>
            </a:extLst>
          </p:cNvPr>
          <p:cNvSpPr txBox="1"/>
          <p:nvPr/>
        </p:nvSpPr>
        <p:spPr>
          <a:xfrm>
            <a:off x="880557" y="742224"/>
            <a:ext cx="17863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2400" b="1" spc="-60" dirty="0">
                <a:latin typeface="Pretendard Medium" panose="02000503000000020004" pitchFamily="2" charset="-127"/>
                <a:ea typeface="Pretendard Medium" panose="02000503000000020004" pitchFamily="2" charset="-127"/>
              </a:rPr>
              <a:t>데이터 준비</a:t>
            </a:r>
            <a:endParaRPr kumimoji="1" lang="en-US" altLang="ko-KR" sz="2400" b="1" spc="-60" dirty="0">
              <a:latin typeface="Pretendard Medium" panose="02000503000000020004" pitchFamily="2" charset="-127"/>
              <a:ea typeface="Pretendard Medium" panose="02000503000000020004" pitchFamily="2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301B9E9-5B8D-9D31-BCEB-B95651F26FFD}"/>
              </a:ext>
            </a:extLst>
          </p:cNvPr>
          <p:cNvSpPr/>
          <p:nvPr/>
        </p:nvSpPr>
        <p:spPr>
          <a:xfrm>
            <a:off x="714703" y="794381"/>
            <a:ext cx="147145" cy="357352"/>
          </a:xfrm>
          <a:prstGeom prst="rect">
            <a:avLst/>
          </a:prstGeom>
          <a:solidFill>
            <a:srgbClr val="DA0F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US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105EDD0-E1EE-8BD6-BF8F-A23566CED203}"/>
              </a:ext>
            </a:extLst>
          </p:cNvPr>
          <p:cNvSpPr txBox="1"/>
          <p:nvPr/>
        </p:nvSpPr>
        <p:spPr>
          <a:xfrm>
            <a:off x="788275" y="1728738"/>
            <a:ext cx="9636820" cy="29546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2000" b="1" dirty="0">
                <a:solidFill>
                  <a:srgbClr val="000000"/>
                </a:solidFill>
                <a:latin typeface="NotoSansKR"/>
              </a:rPr>
              <a:t>초고속 </a:t>
            </a:r>
            <a:r>
              <a:rPr lang="ko-KR" altLang="en-US" sz="2000" b="1" dirty="0" err="1">
                <a:solidFill>
                  <a:srgbClr val="000000"/>
                </a:solidFill>
                <a:latin typeface="NotoSansKR"/>
              </a:rPr>
              <a:t>멀티뷰</a:t>
            </a:r>
            <a:r>
              <a:rPr lang="ko-KR" altLang="en-US" sz="2000" b="1" dirty="0">
                <a:solidFill>
                  <a:srgbClr val="000000"/>
                </a:solidFill>
                <a:latin typeface="NotoSansKR"/>
              </a:rPr>
              <a:t> 카메라 환경에서 빠른 손의 움직임을 촬영</a:t>
            </a:r>
            <a:r>
              <a:rPr lang="en-US" altLang="ko-KR" sz="2000" b="1" dirty="0">
                <a:solidFill>
                  <a:srgbClr val="000000"/>
                </a:solidFill>
                <a:latin typeface="NotoSansKR"/>
              </a:rPr>
              <a:t>.</a:t>
            </a: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ko-KR" sz="2000" b="1" i="0" dirty="0">
              <a:solidFill>
                <a:srgbClr val="000000"/>
              </a:solidFill>
              <a:effectLst/>
              <a:latin typeface="NotoSansKR"/>
            </a:endParaRP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2000" b="1" dirty="0">
                <a:solidFill>
                  <a:srgbClr val="000000"/>
                </a:solidFill>
                <a:latin typeface="NotoSansKR"/>
              </a:rPr>
              <a:t>사람 손으로 </a:t>
            </a:r>
            <a:r>
              <a:rPr lang="ko-KR" altLang="en-US" sz="2000" b="1" dirty="0" err="1">
                <a:solidFill>
                  <a:srgbClr val="000000"/>
                </a:solidFill>
                <a:latin typeface="NotoSansKR"/>
              </a:rPr>
              <a:t>딱밤을</a:t>
            </a:r>
            <a:r>
              <a:rPr lang="ko-KR" altLang="en-US" sz="2000" b="1" dirty="0">
                <a:solidFill>
                  <a:srgbClr val="000000"/>
                </a:solidFill>
                <a:latin typeface="NotoSansKR"/>
              </a:rPr>
              <a:t> 때리는 자세를 촬영 </a:t>
            </a:r>
            <a:endParaRPr lang="en-US" altLang="ko-KR" sz="2000" b="1" dirty="0">
              <a:solidFill>
                <a:srgbClr val="000000"/>
              </a:solidFill>
              <a:latin typeface="NotoSansKR"/>
            </a:endParaRP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2000" b="1" i="0" dirty="0">
                <a:solidFill>
                  <a:srgbClr val="000000"/>
                </a:solidFill>
                <a:effectLst/>
                <a:latin typeface="NotoSansKR"/>
              </a:rPr>
              <a:t>아래와 같이 </a:t>
            </a:r>
            <a:r>
              <a:rPr lang="ko-KR" altLang="en-US" sz="2000" b="1" i="0" dirty="0" err="1">
                <a:solidFill>
                  <a:srgbClr val="000000"/>
                </a:solidFill>
                <a:effectLst/>
                <a:latin typeface="NotoSansKR"/>
              </a:rPr>
              <a:t>멀티뷰</a:t>
            </a:r>
            <a:r>
              <a:rPr lang="en-US" altLang="ko-KR" sz="2000" b="1" i="0" dirty="0">
                <a:solidFill>
                  <a:srgbClr val="000000"/>
                </a:solidFill>
                <a:effectLst/>
                <a:latin typeface="NotoSansKR"/>
              </a:rPr>
              <a:t>+</a:t>
            </a:r>
            <a:r>
              <a:rPr lang="en-US" altLang="ko-KR" sz="2000" b="1" i="0" dirty="0" err="1">
                <a:solidFill>
                  <a:srgbClr val="000000"/>
                </a:solidFill>
                <a:effectLst/>
                <a:latin typeface="NotoSansKR"/>
              </a:rPr>
              <a:t>Mediapipe</a:t>
            </a:r>
            <a:r>
              <a:rPr lang="en-US" altLang="ko-KR" sz="2000" b="1" i="0" dirty="0">
                <a:solidFill>
                  <a:srgbClr val="000000"/>
                </a:solidFill>
                <a:effectLst/>
                <a:latin typeface="NotoSansKR"/>
              </a:rPr>
              <a:t> </a:t>
            </a:r>
            <a:r>
              <a:rPr lang="en-US" altLang="ko-KR" sz="2000" b="1" dirty="0" err="1">
                <a:solidFill>
                  <a:srgbClr val="000000"/>
                </a:solidFill>
                <a:latin typeface="NotoSansKR"/>
              </a:rPr>
              <a:t>keypoint</a:t>
            </a:r>
            <a:r>
              <a:rPr lang="ko-KR" altLang="en-US" sz="2000" b="1" dirty="0">
                <a:solidFill>
                  <a:srgbClr val="000000"/>
                </a:solidFill>
                <a:latin typeface="NotoSansKR"/>
              </a:rPr>
              <a:t> </a:t>
            </a:r>
            <a:r>
              <a:rPr lang="en-US" altLang="ko-KR" sz="2000" b="1" dirty="0">
                <a:solidFill>
                  <a:srgbClr val="000000"/>
                </a:solidFill>
                <a:latin typeface="NotoSansKR"/>
              </a:rPr>
              <a:t>estimation</a:t>
            </a:r>
            <a:r>
              <a:rPr lang="ko-KR" altLang="en-US" sz="2000" b="1" dirty="0">
                <a:solidFill>
                  <a:srgbClr val="000000"/>
                </a:solidFill>
                <a:latin typeface="NotoSansKR"/>
              </a:rPr>
              <a:t>을 통해</a:t>
            </a:r>
            <a:endParaRPr lang="en-US" altLang="ko-KR" sz="2000" b="1" dirty="0">
              <a:solidFill>
                <a:srgbClr val="000000"/>
              </a:solidFill>
              <a:latin typeface="NotoSansKR"/>
            </a:endParaRP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i="0" dirty="0">
                <a:solidFill>
                  <a:srgbClr val="000000"/>
                </a:solidFill>
                <a:effectLst/>
                <a:latin typeface="NotoSansKR"/>
              </a:rPr>
              <a:t>3d </a:t>
            </a:r>
            <a:r>
              <a:rPr lang="ko-KR" altLang="en-US" sz="2000" b="1" i="0" dirty="0">
                <a:solidFill>
                  <a:srgbClr val="000000"/>
                </a:solidFill>
                <a:effectLst/>
                <a:latin typeface="NotoSansKR"/>
              </a:rPr>
              <a:t>공간 상에서의 관절 위치 및 관절 각 획득</a:t>
            </a:r>
            <a:endParaRPr lang="ko-KR" altLang="en-US" b="0" i="0" dirty="0">
              <a:solidFill>
                <a:srgbClr val="000000"/>
              </a:solidFill>
              <a:effectLst/>
              <a:latin typeface="NotoSansKR"/>
            </a:endParaRPr>
          </a:p>
          <a:p>
            <a:pPr algn="l"/>
            <a:r>
              <a:rPr lang="en-US" altLang="ko-KR" b="0" i="0" dirty="0">
                <a:effectLst/>
                <a:latin typeface="NotoSansKR"/>
              </a:rPr>
              <a:t>	</a:t>
            </a:r>
            <a:br>
              <a:rPr lang="ko-KR" altLang="en-US" b="0" i="0" dirty="0">
                <a:effectLst/>
                <a:latin typeface="NotoSansKR"/>
              </a:rPr>
            </a:b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54E4FEF-E857-3CE4-10D5-B4FA51E703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4713" y="4919530"/>
            <a:ext cx="1466360" cy="85959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FD822662-C35F-A4DF-8030-40641B91F9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2865" y="4122010"/>
            <a:ext cx="1387258" cy="844595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492EDDB0-7175-E9F9-4F81-6D36464BAC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0760" y="5975804"/>
            <a:ext cx="1446129" cy="907986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D450A7DB-B76B-84E5-E76C-DDD6BEB41D4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94325" y="5863939"/>
            <a:ext cx="1552336" cy="994061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FA3F1AC0-C7CA-3F80-54EC-7BAF006EFB7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60001" y="4062533"/>
            <a:ext cx="1586660" cy="93882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76DBEF5A-5F3F-F901-62F2-DF0D2057280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46661" y="4834711"/>
            <a:ext cx="1635180" cy="1029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7515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222"/>
    </mc:Choice>
    <mc:Fallback xmlns="">
      <p:transition spd="slow" advTm="2222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0385FB-753D-DE67-8374-CEC07336BC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5A27E7B6-0B5D-C6D7-9D71-A114A34A2CDB}"/>
              </a:ext>
            </a:extLst>
          </p:cNvPr>
          <p:cNvSpPr txBox="1"/>
          <p:nvPr/>
        </p:nvSpPr>
        <p:spPr>
          <a:xfrm>
            <a:off x="880557" y="742224"/>
            <a:ext cx="17863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2400" b="1" spc="-60" dirty="0">
                <a:latin typeface="Pretendard Medium" panose="02000503000000020004" pitchFamily="2" charset="-127"/>
                <a:ea typeface="Pretendard Medium" panose="02000503000000020004" pitchFamily="2" charset="-127"/>
              </a:rPr>
              <a:t>데이터 준비</a:t>
            </a:r>
            <a:endParaRPr kumimoji="1" lang="en-US" altLang="ko-KR" sz="2400" b="1" spc="-60" dirty="0">
              <a:latin typeface="Pretendard Medium" panose="02000503000000020004" pitchFamily="2" charset="-127"/>
              <a:ea typeface="Pretendard Medium" panose="02000503000000020004" pitchFamily="2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8C1F556-6C6C-11AE-F597-CBA4AFF15A41}"/>
              </a:ext>
            </a:extLst>
          </p:cNvPr>
          <p:cNvSpPr/>
          <p:nvPr/>
        </p:nvSpPr>
        <p:spPr>
          <a:xfrm>
            <a:off x="714703" y="794381"/>
            <a:ext cx="147145" cy="357352"/>
          </a:xfrm>
          <a:prstGeom prst="rect">
            <a:avLst/>
          </a:prstGeom>
          <a:solidFill>
            <a:srgbClr val="DA0F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US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FD049B6-42D3-EB75-A369-EC0CFD503EA5}"/>
              </a:ext>
            </a:extLst>
          </p:cNvPr>
          <p:cNvSpPr txBox="1"/>
          <p:nvPr/>
        </p:nvSpPr>
        <p:spPr>
          <a:xfrm>
            <a:off x="788275" y="1728738"/>
            <a:ext cx="9636820" cy="225478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2000" b="1" dirty="0">
                <a:solidFill>
                  <a:srgbClr val="000000"/>
                </a:solidFill>
                <a:latin typeface="NotoSansKR"/>
              </a:rPr>
              <a:t>아래와 같은 키포인트를 토대로 관절각을 계산해 학습하려 한다</a:t>
            </a:r>
            <a:r>
              <a:rPr lang="en-US" altLang="ko-KR" sz="2000" b="1" dirty="0">
                <a:solidFill>
                  <a:srgbClr val="000000"/>
                </a:solidFill>
                <a:latin typeface="NotoSansKR"/>
              </a:rPr>
              <a:t>.</a:t>
            </a: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2000" b="1" i="0" dirty="0">
                <a:solidFill>
                  <a:srgbClr val="000000"/>
                </a:solidFill>
                <a:effectLst/>
                <a:latin typeface="NotoSansKR"/>
              </a:rPr>
              <a:t>총 </a:t>
            </a:r>
            <a:r>
              <a:rPr lang="en-US" altLang="ko-KR" sz="2000" b="1" i="0" dirty="0">
                <a:solidFill>
                  <a:srgbClr val="000000"/>
                </a:solidFill>
                <a:effectLst/>
                <a:latin typeface="NotoSansKR"/>
              </a:rPr>
              <a:t>23</a:t>
            </a:r>
            <a:r>
              <a:rPr lang="ko-KR" altLang="en-US" sz="2000" b="1" i="0" dirty="0">
                <a:solidFill>
                  <a:srgbClr val="000000"/>
                </a:solidFill>
                <a:effectLst/>
                <a:latin typeface="NotoSansKR"/>
              </a:rPr>
              <a:t>개의 키포인트</a:t>
            </a:r>
            <a:r>
              <a:rPr lang="en-US" altLang="ko-KR" sz="2000" b="1" i="0" dirty="0">
                <a:solidFill>
                  <a:srgbClr val="000000"/>
                </a:solidFill>
                <a:effectLst/>
                <a:latin typeface="NotoSansKR"/>
              </a:rPr>
              <a:t>, </a:t>
            </a:r>
            <a:r>
              <a:rPr lang="en-US" altLang="ko-KR" sz="2000" b="1" i="0" dirty="0" err="1">
                <a:solidFill>
                  <a:srgbClr val="000000"/>
                </a:solidFill>
                <a:effectLst/>
                <a:latin typeface="NotoSansKR"/>
              </a:rPr>
              <a:t>MyoSuite</a:t>
            </a:r>
            <a:r>
              <a:rPr lang="en-US" altLang="ko-KR" sz="2000" b="1" i="0" dirty="0">
                <a:solidFill>
                  <a:srgbClr val="000000"/>
                </a:solidFill>
                <a:effectLst/>
                <a:latin typeface="NotoSansKR"/>
              </a:rPr>
              <a:t> hand 23-DoF joint angle </a:t>
            </a:r>
            <a:r>
              <a:rPr lang="ko-KR" altLang="en-US" sz="2000" b="1" i="0" dirty="0">
                <a:solidFill>
                  <a:srgbClr val="000000"/>
                </a:solidFill>
                <a:effectLst/>
                <a:latin typeface="NotoSansKR"/>
              </a:rPr>
              <a:t>시퀀스 중</a:t>
            </a:r>
            <a:endParaRPr lang="en-US" altLang="ko-KR" sz="2000" b="1" i="0" dirty="0">
              <a:solidFill>
                <a:srgbClr val="000000"/>
              </a:solidFill>
              <a:effectLst/>
              <a:latin typeface="NotoSansKR"/>
            </a:endParaRP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2000" b="1" dirty="0">
                <a:solidFill>
                  <a:srgbClr val="000000"/>
                </a:solidFill>
                <a:latin typeface="NotoSansKR"/>
              </a:rPr>
              <a:t>중지의 시퀀스인 </a:t>
            </a:r>
            <a:r>
              <a:rPr lang="en-US" altLang="ko-KR" sz="2000" b="1" dirty="0">
                <a:solidFill>
                  <a:srgbClr val="000000"/>
                </a:solidFill>
                <a:latin typeface="NotoSansKR"/>
              </a:rPr>
              <a:t>11 MCP, 13PIP, 14 DIP</a:t>
            </a:r>
            <a:r>
              <a:rPr lang="ko-KR" altLang="en-US" sz="2000" b="1" dirty="0">
                <a:solidFill>
                  <a:srgbClr val="000000"/>
                </a:solidFill>
                <a:latin typeface="NotoSansKR"/>
              </a:rPr>
              <a:t> </a:t>
            </a:r>
            <a:r>
              <a:rPr lang="en-US" altLang="ko-KR" sz="2000" b="1" dirty="0">
                <a:solidFill>
                  <a:srgbClr val="000000"/>
                </a:solidFill>
                <a:latin typeface="NotoSansKR"/>
              </a:rPr>
              <a:t>3</a:t>
            </a:r>
            <a:r>
              <a:rPr lang="ko-KR" altLang="en-US" sz="2000" b="1" dirty="0">
                <a:solidFill>
                  <a:srgbClr val="000000"/>
                </a:solidFill>
                <a:latin typeface="NotoSansKR"/>
              </a:rPr>
              <a:t>개를 사용</a:t>
            </a:r>
            <a:endParaRPr lang="en-US" altLang="ko-KR" sz="2000" b="1" i="0" dirty="0">
              <a:solidFill>
                <a:srgbClr val="000000"/>
              </a:solidFill>
              <a:effectLst/>
              <a:latin typeface="NotoSansKR"/>
            </a:endParaRPr>
          </a:p>
          <a:p>
            <a:pPr algn="l">
              <a:lnSpc>
                <a:spcPct val="150000"/>
              </a:lnSpc>
            </a:pPr>
            <a:r>
              <a:rPr lang="en-US" altLang="ko-KR" dirty="0">
                <a:latin typeface="NotoSansKR"/>
              </a:rPr>
              <a:t> MCP, PIP, DIP </a:t>
            </a:r>
            <a:r>
              <a:rPr lang="ko-KR" altLang="en-US" dirty="0">
                <a:latin typeface="NotoSansKR"/>
              </a:rPr>
              <a:t>는 아래와 같은 관절</a:t>
            </a:r>
            <a:br>
              <a:rPr lang="ko-KR" altLang="en-US" b="0" i="0" dirty="0">
                <a:effectLst/>
                <a:latin typeface="NotoSansKR"/>
              </a:rPr>
            </a:br>
            <a:endParaRPr lang="ko-KR" altLang="en-US" dirty="0"/>
          </a:p>
        </p:txBody>
      </p:sp>
      <p:pic>
        <p:nvPicPr>
          <p:cNvPr id="11" name="triangulate_600_950">
            <a:hlinkClick r:id="" action="ppaction://media"/>
            <a:extLst>
              <a:ext uri="{FF2B5EF4-FFF2-40B4-BE49-F238E27FC236}">
                <a16:creationId xmlns:a16="http://schemas.microsoft.com/office/drawing/2014/main" id="{049FA33D-8498-67D6-5593-B7F8A2D1252D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6526925" y="3200400"/>
            <a:ext cx="4876800" cy="365760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234DF7A6-2DB2-B468-CFB4-AB5C37F0666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01287" y="4198609"/>
            <a:ext cx="2502221" cy="2399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61615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222"/>
    </mc:Choice>
    <mc:Fallback xmlns="">
      <p:transition spd="slow" advTm="222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850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CE78F2-10C5-5E04-A071-D49936033C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E321A5F9-B314-8317-BEBD-FA5D0A597062}"/>
              </a:ext>
            </a:extLst>
          </p:cNvPr>
          <p:cNvSpPr txBox="1"/>
          <p:nvPr/>
        </p:nvSpPr>
        <p:spPr>
          <a:xfrm>
            <a:off x="880557" y="742224"/>
            <a:ext cx="41903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2400" b="1" spc="-60" dirty="0">
                <a:latin typeface="Pretendard Medium" panose="02000503000000020004" pitchFamily="2" charset="-127"/>
                <a:ea typeface="Pretendard Medium" panose="02000503000000020004" pitchFamily="2" charset="-127"/>
              </a:rPr>
              <a:t>State / Action / Reward </a:t>
            </a:r>
            <a:r>
              <a:rPr kumimoji="1" lang="ko-KR" altLang="en-US" sz="2400" b="1" spc="-60" dirty="0">
                <a:latin typeface="Pretendard Medium" panose="02000503000000020004" pitchFamily="2" charset="-127"/>
                <a:ea typeface="Pretendard Medium" panose="02000503000000020004" pitchFamily="2" charset="-127"/>
              </a:rPr>
              <a:t>설계</a:t>
            </a:r>
            <a:endParaRPr kumimoji="1" lang="en-US" altLang="ko-KR" sz="2400" b="1" spc="-60" dirty="0">
              <a:latin typeface="Pretendard Medium" panose="02000503000000020004" pitchFamily="2" charset="-127"/>
              <a:ea typeface="Pretendard Medium" panose="02000503000000020004" pitchFamily="2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2A0F90D-EC27-BA2D-4643-4DFF7CD0B135}"/>
              </a:ext>
            </a:extLst>
          </p:cNvPr>
          <p:cNvSpPr/>
          <p:nvPr/>
        </p:nvSpPr>
        <p:spPr>
          <a:xfrm>
            <a:off x="714703" y="794381"/>
            <a:ext cx="147145" cy="357352"/>
          </a:xfrm>
          <a:prstGeom prst="rect">
            <a:avLst/>
          </a:prstGeom>
          <a:solidFill>
            <a:srgbClr val="DA0F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US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D59AC38-EC06-5B9F-5900-1FEEC7F4A248}"/>
              </a:ext>
            </a:extLst>
          </p:cNvPr>
          <p:cNvSpPr txBox="1"/>
          <p:nvPr/>
        </p:nvSpPr>
        <p:spPr>
          <a:xfrm>
            <a:off x="788275" y="1728738"/>
            <a:ext cx="9636820" cy="548643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>
                <a:solidFill>
                  <a:srgbClr val="000000"/>
                </a:solidFill>
                <a:latin typeface="NotoSansKR"/>
              </a:rPr>
              <a:t>State</a:t>
            </a:r>
            <a:r>
              <a:rPr lang="ko-KR" altLang="en-US" sz="2000" b="1" dirty="0">
                <a:solidFill>
                  <a:srgbClr val="000000"/>
                </a:solidFill>
                <a:latin typeface="NotoSansKR"/>
              </a:rPr>
              <a:t> 설계</a:t>
            </a:r>
            <a:endParaRPr lang="en-US" altLang="ko-KR" sz="2000" b="1" dirty="0">
              <a:solidFill>
                <a:srgbClr val="000000"/>
              </a:solidFill>
              <a:latin typeface="NotoSansKR"/>
            </a:endParaRPr>
          </a:p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rgbClr val="000000"/>
                </a:solidFill>
                <a:latin typeface="NotoSansKR"/>
              </a:rPr>
              <a:t> </a:t>
            </a:r>
            <a:r>
              <a:rPr lang="ko-KR" altLang="en-US" sz="2000" b="1" dirty="0">
                <a:solidFill>
                  <a:srgbClr val="000000"/>
                </a:solidFill>
                <a:latin typeface="NotoSansKR"/>
              </a:rPr>
              <a:t>총 </a:t>
            </a:r>
            <a:r>
              <a:rPr lang="en-US" altLang="ko-KR" sz="2000" b="1" dirty="0">
                <a:solidFill>
                  <a:srgbClr val="000000"/>
                </a:solidFill>
                <a:latin typeface="NotoSansKR"/>
              </a:rPr>
              <a:t>7</a:t>
            </a:r>
            <a:r>
              <a:rPr lang="ko-KR" altLang="en-US" sz="2000" b="1" dirty="0">
                <a:solidFill>
                  <a:srgbClr val="000000"/>
                </a:solidFill>
                <a:latin typeface="NotoSansKR"/>
              </a:rPr>
              <a:t>차원으로 구성되어 있으며</a:t>
            </a:r>
            <a:r>
              <a:rPr lang="en-US" altLang="ko-KR" sz="2000" b="1" dirty="0">
                <a:solidFill>
                  <a:srgbClr val="000000"/>
                </a:solidFill>
                <a:latin typeface="NotoSansKR"/>
              </a:rPr>
              <a:t>, </a:t>
            </a:r>
            <a:r>
              <a:rPr lang="ko-KR" altLang="en-US" sz="2000" b="1" dirty="0">
                <a:solidFill>
                  <a:srgbClr val="000000"/>
                </a:solidFill>
                <a:latin typeface="NotoSansKR"/>
              </a:rPr>
              <a:t>현재 중지의 관절 각도인 </a:t>
            </a:r>
            <a:r>
              <a:rPr lang="en-US" altLang="ko-KR" sz="2000" b="1" dirty="0" err="1">
                <a:solidFill>
                  <a:srgbClr val="000000"/>
                </a:solidFill>
                <a:latin typeface="NotoSansKR"/>
              </a:rPr>
              <a:t>mcp</a:t>
            </a:r>
            <a:r>
              <a:rPr lang="en-US" altLang="ko-KR" sz="2000" b="1" dirty="0">
                <a:solidFill>
                  <a:srgbClr val="000000"/>
                </a:solidFill>
                <a:latin typeface="NotoSansKR"/>
              </a:rPr>
              <a:t>, pip, dip </a:t>
            </a:r>
            <a:r>
              <a:rPr lang="ko-KR" altLang="en-US" sz="2000" b="1" dirty="0">
                <a:solidFill>
                  <a:srgbClr val="000000"/>
                </a:solidFill>
                <a:latin typeface="NotoSansKR"/>
              </a:rPr>
              <a:t>와</a:t>
            </a:r>
            <a:endParaRPr lang="en-US" altLang="ko-KR" sz="2000" b="1" dirty="0">
              <a:solidFill>
                <a:srgbClr val="000000"/>
              </a:solidFill>
              <a:latin typeface="NotoSansKR"/>
            </a:endParaRPr>
          </a:p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rgbClr val="000000"/>
                </a:solidFill>
                <a:latin typeface="NotoSansKR"/>
              </a:rPr>
              <a:t> </a:t>
            </a:r>
            <a:r>
              <a:rPr lang="ko-KR" altLang="en-US" sz="2000" b="1" dirty="0">
                <a:solidFill>
                  <a:srgbClr val="000000"/>
                </a:solidFill>
                <a:latin typeface="NotoSansKR"/>
              </a:rPr>
              <a:t>해당 타임 스텝의 타겟 </a:t>
            </a:r>
            <a:r>
              <a:rPr lang="ko-KR" altLang="en-US" sz="2000" b="1" dirty="0" err="1">
                <a:solidFill>
                  <a:srgbClr val="000000"/>
                </a:solidFill>
                <a:latin typeface="NotoSansKR"/>
              </a:rPr>
              <a:t>관절각</a:t>
            </a:r>
            <a:r>
              <a:rPr lang="ko-KR" altLang="en-US" sz="2000" b="1" dirty="0">
                <a:solidFill>
                  <a:srgbClr val="000000"/>
                </a:solidFill>
                <a:latin typeface="NotoSansKR"/>
              </a:rPr>
              <a:t> </a:t>
            </a:r>
            <a:r>
              <a:rPr lang="en-US" altLang="ko-KR" sz="2000" b="1" dirty="0">
                <a:solidFill>
                  <a:srgbClr val="000000"/>
                </a:solidFill>
                <a:latin typeface="NotoSansKR"/>
              </a:rPr>
              <a:t>3</a:t>
            </a:r>
            <a:r>
              <a:rPr lang="ko-KR" altLang="en-US" sz="2000" b="1" dirty="0">
                <a:solidFill>
                  <a:srgbClr val="000000"/>
                </a:solidFill>
                <a:latin typeface="NotoSansKR"/>
              </a:rPr>
              <a:t>개</a:t>
            </a:r>
            <a:r>
              <a:rPr lang="en-US" altLang="ko-KR" sz="2000" b="1" dirty="0">
                <a:solidFill>
                  <a:srgbClr val="000000"/>
                </a:solidFill>
                <a:latin typeface="NotoSansKR"/>
              </a:rPr>
              <a:t>, </a:t>
            </a:r>
            <a:r>
              <a:rPr lang="ko-KR" altLang="en-US" sz="2000" b="1" dirty="0">
                <a:solidFill>
                  <a:srgbClr val="000000"/>
                </a:solidFill>
                <a:latin typeface="NotoSansKR"/>
              </a:rPr>
              <a:t>에피소드 진행 비율을 포함한다</a:t>
            </a:r>
            <a:r>
              <a:rPr lang="en-US" altLang="ko-KR" sz="2000" b="1" dirty="0">
                <a:solidFill>
                  <a:srgbClr val="000000"/>
                </a:solidFill>
                <a:latin typeface="NotoSansKR"/>
              </a:rPr>
              <a:t>.</a:t>
            </a: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ko-KR" sz="2000" b="1" dirty="0">
              <a:solidFill>
                <a:srgbClr val="000000"/>
              </a:solidFill>
              <a:latin typeface="NotoSansKR"/>
            </a:endParaRP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ko-KR" sz="2000" b="1" dirty="0">
              <a:solidFill>
                <a:srgbClr val="000000"/>
              </a:solidFill>
              <a:latin typeface="NotoSansKR"/>
            </a:endParaRP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>
                <a:solidFill>
                  <a:srgbClr val="000000"/>
                </a:solidFill>
                <a:latin typeface="NotoSansKR"/>
              </a:rPr>
              <a:t>Action</a:t>
            </a:r>
            <a:r>
              <a:rPr lang="ko-KR" altLang="en-US" sz="2000" b="1" dirty="0">
                <a:solidFill>
                  <a:srgbClr val="000000"/>
                </a:solidFill>
                <a:latin typeface="NotoSansKR"/>
              </a:rPr>
              <a:t> 설계</a:t>
            </a:r>
            <a:endParaRPr lang="en-US" altLang="ko-KR" sz="2000" b="1" dirty="0">
              <a:solidFill>
                <a:srgbClr val="000000"/>
              </a:solidFill>
              <a:latin typeface="NotoSansKR"/>
            </a:endParaRPr>
          </a:p>
          <a:p>
            <a:pPr algn="l">
              <a:lnSpc>
                <a:spcPct val="150000"/>
              </a:lnSpc>
            </a:pPr>
            <a:r>
              <a:rPr lang="en-US" altLang="ko-KR" sz="2000" b="1" i="0" dirty="0">
                <a:solidFill>
                  <a:srgbClr val="000000"/>
                </a:solidFill>
                <a:effectLst/>
                <a:latin typeface="NotoSansKR"/>
              </a:rPr>
              <a:t> </a:t>
            </a:r>
            <a:r>
              <a:rPr lang="en-US" altLang="ko-KR" sz="2000" b="1" i="0" dirty="0" err="1">
                <a:solidFill>
                  <a:srgbClr val="000000"/>
                </a:solidFill>
                <a:effectLst/>
                <a:latin typeface="NotoSansKR"/>
              </a:rPr>
              <a:t>Myosuite</a:t>
            </a:r>
            <a:r>
              <a:rPr lang="en-US" altLang="ko-KR" sz="2000" b="1" i="0" dirty="0">
                <a:solidFill>
                  <a:srgbClr val="000000"/>
                </a:solidFill>
                <a:effectLst/>
                <a:latin typeface="NotoSansKR"/>
              </a:rPr>
              <a:t> motorFingerPoseFixed-v0</a:t>
            </a:r>
            <a:r>
              <a:rPr lang="ko-KR" altLang="en-US" sz="2000" b="1" i="0" dirty="0">
                <a:solidFill>
                  <a:srgbClr val="000000"/>
                </a:solidFill>
                <a:effectLst/>
                <a:latin typeface="NotoSansKR"/>
              </a:rPr>
              <a:t>의 원래 </a:t>
            </a:r>
            <a:r>
              <a:rPr lang="en-US" altLang="ko-KR" sz="2000" b="1" i="0" dirty="0">
                <a:solidFill>
                  <a:srgbClr val="000000"/>
                </a:solidFill>
                <a:effectLst/>
                <a:latin typeface="NotoSansKR"/>
              </a:rPr>
              <a:t>action space </a:t>
            </a:r>
            <a:r>
              <a:rPr lang="ko-KR" altLang="en-US" sz="2000" b="1" i="0" dirty="0">
                <a:solidFill>
                  <a:srgbClr val="000000"/>
                </a:solidFill>
                <a:effectLst/>
                <a:latin typeface="NotoSansKR"/>
              </a:rPr>
              <a:t>그대로 사용</a:t>
            </a:r>
            <a:endParaRPr lang="en-US" altLang="ko-KR" sz="2000" b="1" i="0" dirty="0">
              <a:solidFill>
                <a:srgbClr val="000000"/>
              </a:solidFill>
              <a:effectLst/>
              <a:latin typeface="NotoSansKR"/>
            </a:endParaRPr>
          </a:p>
          <a:p>
            <a:pPr algn="l">
              <a:lnSpc>
                <a:spcPct val="150000"/>
              </a:lnSpc>
            </a:pPr>
            <a:r>
              <a:rPr lang="ko-KR" altLang="en-US" sz="2000" b="1" dirty="0">
                <a:solidFill>
                  <a:srgbClr val="000000"/>
                </a:solidFill>
                <a:latin typeface="NotoSansKR"/>
              </a:rPr>
              <a:t>연속 차원의 토크</a:t>
            </a:r>
            <a:r>
              <a:rPr lang="en-US" altLang="ko-KR" sz="2000" b="1" dirty="0">
                <a:solidFill>
                  <a:srgbClr val="000000"/>
                </a:solidFill>
                <a:latin typeface="NotoSansKR"/>
              </a:rPr>
              <a:t>,</a:t>
            </a:r>
            <a:r>
              <a:rPr lang="ko-KR" altLang="en-US" sz="2000" b="1" dirty="0">
                <a:solidFill>
                  <a:srgbClr val="000000"/>
                </a:solidFill>
                <a:latin typeface="NotoSansKR"/>
              </a:rPr>
              <a:t>모터 명령</a:t>
            </a:r>
            <a:endParaRPr lang="en-US" altLang="ko-KR" sz="2000" b="1" dirty="0">
              <a:solidFill>
                <a:srgbClr val="000000"/>
              </a:solidFill>
              <a:latin typeface="NotoSansKR"/>
            </a:endParaRPr>
          </a:p>
          <a:p>
            <a:pPr algn="l">
              <a:lnSpc>
                <a:spcPct val="150000"/>
              </a:lnSpc>
            </a:pPr>
            <a:r>
              <a:rPr lang="ko-KR" altLang="en-US" sz="2000" b="1" i="0" dirty="0">
                <a:solidFill>
                  <a:srgbClr val="000000"/>
                </a:solidFill>
                <a:effectLst/>
                <a:latin typeface="NotoSansKR"/>
              </a:rPr>
              <a:t>정책이 직접 </a:t>
            </a:r>
            <a:r>
              <a:rPr lang="en-US" altLang="ko-KR" sz="2000" b="1" i="0" dirty="0">
                <a:solidFill>
                  <a:srgbClr val="000000"/>
                </a:solidFill>
                <a:effectLst/>
                <a:latin typeface="NotoSansKR"/>
              </a:rPr>
              <a:t>motor </a:t>
            </a:r>
            <a:r>
              <a:rPr lang="en-US" altLang="ko-KR" sz="2000" b="1" i="0" dirty="0" err="1">
                <a:solidFill>
                  <a:srgbClr val="000000"/>
                </a:solidFill>
                <a:effectLst/>
                <a:latin typeface="NotoSansKR"/>
              </a:rPr>
              <a:t>comman</a:t>
            </a:r>
            <a:r>
              <a:rPr lang="ko-KR" altLang="en-US" sz="2000" b="1" i="0" dirty="0">
                <a:solidFill>
                  <a:srgbClr val="000000"/>
                </a:solidFill>
                <a:effectLst/>
                <a:latin typeface="NotoSansKR"/>
              </a:rPr>
              <a:t>를 출력</a:t>
            </a:r>
            <a:r>
              <a:rPr lang="en-US" altLang="ko-KR" sz="2000" b="1" i="0" dirty="0">
                <a:solidFill>
                  <a:srgbClr val="000000"/>
                </a:solidFill>
                <a:effectLst/>
                <a:latin typeface="NotoSansKR"/>
              </a:rPr>
              <a:t>-&gt; target trajectory</a:t>
            </a:r>
            <a:r>
              <a:rPr lang="ko-KR" altLang="en-US" sz="2000" b="1" i="0" dirty="0">
                <a:solidFill>
                  <a:srgbClr val="000000"/>
                </a:solidFill>
                <a:effectLst/>
                <a:latin typeface="NotoSansKR"/>
              </a:rPr>
              <a:t>를 따라 가도록 학습</a:t>
            </a:r>
            <a:endParaRPr lang="en-US" altLang="ko-KR" sz="2000" b="1" i="0" dirty="0">
              <a:solidFill>
                <a:srgbClr val="000000"/>
              </a:solidFill>
              <a:effectLst/>
              <a:latin typeface="NotoSansKR"/>
            </a:endParaRPr>
          </a:p>
          <a:p>
            <a:pPr algn="l">
              <a:lnSpc>
                <a:spcPct val="150000"/>
              </a:lnSpc>
            </a:pPr>
            <a:r>
              <a:rPr lang="ko-KR" altLang="en-US" sz="2000" b="1" dirty="0">
                <a:solidFill>
                  <a:srgbClr val="000000"/>
                </a:solidFill>
                <a:latin typeface="NotoSansKR"/>
              </a:rPr>
              <a:t>오른쪽과 같은 </a:t>
            </a:r>
            <a:r>
              <a:rPr lang="en-US" altLang="ko-KR" sz="2000" b="1" dirty="0">
                <a:solidFill>
                  <a:srgbClr val="000000"/>
                </a:solidFill>
                <a:latin typeface="NotoSansKR"/>
              </a:rPr>
              <a:t>motor finger </a:t>
            </a:r>
            <a:r>
              <a:rPr lang="ko-KR" altLang="en-US" sz="2000" b="1" dirty="0">
                <a:solidFill>
                  <a:srgbClr val="000000"/>
                </a:solidFill>
                <a:latin typeface="NotoSansKR"/>
              </a:rPr>
              <a:t>환경을 사용</a:t>
            </a:r>
            <a:endParaRPr lang="en-US" altLang="ko-KR" sz="2000" b="1" i="0" dirty="0">
              <a:solidFill>
                <a:srgbClr val="000000"/>
              </a:solidFill>
              <a:effectLst/>
              <a:latin typeface="NotoSansKR"/>
            </a:endParaRPr>
          </a:p>
          <a:p>
            <a:pPr algn="l">
              <a:lnSpc>
                <a:spcPct val="150000"/>
              </a:lnSpc>
            </a:pPr>
            <a:br>
              <a:rPr lang="ko-KR" altLang="en-US" b="0" i="0" dirty="0">
                <a:effectLst/>
                <a:latin typeface="NotoSansKR"/>
              </a:rPr>
            </a:b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20F54C9-BEBA-5A71-3D13-76AD79AEE3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9459" y="4241124"/>
            <a:ext cx="2786679" cy="2159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31577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222"/>
    </mc:Choice>
    <mc:Fallback xmlns="">
      <p:transition spd="slow" advTm="2222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7469BC-54C1-C8A1-C3FC-B43699A4B4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E938F8AC-A80E-5981-EFA5-98393DB63EC0}"/>
              </a:ext>
            </a:extLst>
          </p:cNvPr>
          <p:cNvSpPr txBox="1"/>
          <p:nvPr/>
        </p:nvSpPr>
        <p:spPr>
          <a:xfrm>
            <a:off x="880557" y="742224"/>
            <a:ext cx="41903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2400" b="1" spc="-60" dirty="0">
                <a:latin typeface="Pretendard Medium" panose="02000503000000020004" pitchFamily="2" charset="-127"/>
                <a:ea typeface="Pretendard Medium" panose="02000503000000020004" pitchFamily="2" charset="-127"/>
              </a:rPr>
              <a:t>State / Action / Reward </a:t>
            </a:r>
            <a:r>
              <a:rPr kumimoji="1" lang="ko-KR" altLang="en-US" sz="2400" b="1" spc="-60" dirty="0">
                <a:latin typeface="Pretendard Medium" panose="02000503000000020004" pitchFamily="2" charset="-127"/>
                <a:ea typeface="Pretendard Medium" panose="02000503000000020004" pitchFamily="2" charset="-127"/>
              </a:rPr>
              <a:t>설계</a:t>
            </a:r>
            <a:endParaRPr kumimoji="1" lang="en-US" altLang="ko-KR" sz="2400" b="1" spc="-60" dirty="0">
              <a:latin typeface="Pretendard Medium" panose="02000503000000020004" pitchFamily="2" charset="-127"/>
              <a:ea typeface="Pretendard Medium" panose="02000503000000020004" pitchFamily="2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7FD513E-6BD4-59A2-DC9D-115C53972E57}"/>
              </a:ext>
            </a:extLst>
          </p:cNvPr>
          <p:cNvSpPr/>
          <p:nvPr/>
        </p:nvSpPr>
        <p:spPr>
          <a:xfrm>
            <a:off x="714703" y="794381"/>
            <a:ext cx="147145" cy="357352"/>
          </a:xfrm>
          <a:prstGeom prst="rect">
            <a:avLst/>
          </a:prstGeom>
          <a:solidFill>
            <a:srgbClr val="DA0F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US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7DC9A2A-DEB5-8D5B-8B1F-BC81F543148B}"/>
              </a:ext>
            </a:extLst>
          </p:cNvPr>
          <p:cNvSpPr txBox="1"/>
          <p:nvPr/>
        </p:nvSpPr>
        <p:spPr>
          <a:xfrm>
            <a:off x="788275" y="1728738"/>
            <a:ext cx="9636820" cy="640976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>
                <a:solidFill>
                  <a:srgbClr val="000000"/>
                </a:solidFill>
                <a:latin typeface="NotoSansKR"/>
              </a:rPr>
              <a:t>Reward </a:t>
            </a:r>
            <a:r>
              <a:rPr lang="ko-KR" altLang="en-US" sz="2000" b="1" dirty="0">
                <a:solidFill>
                  <a:srgbClr val="000000"/>
                </a:solidFill>
                <a:latin typeface="NotoSansKR"/>
              </a:rPr>
              <a:t>설계</a:t>
            </a:r>
            <a:endParaRPr lang="en-US" altLang="ko-KR" sz="2000" b="1" dirty="0">
              <a:solidFill>
                <a:srgbClr val="000000"/>
              </a:solidFill>
              <a:latin typeface="NotoSansKR"/>
            </a:endParaRPr>
          </a:p>
          <a:p>
            <a:pPr algn="l">
              <a:lnSpc>
                <a:spcPct val="150000"/>
              </a:lnSpc>
            </a:pPr>
            <a:r>
              <a:rPr lang="ko-KR" altLang="en-US" sz="2000" b="1" dirty="0">
                <a:solidFill>
                  <a:srgbClr val="000000"/>
                </a:solidFill>
                <a:latin typeface="NotoSansKR"/>
              </a:rPr>
              <a:t>첫번쨰 </a:t>
            </a:r>
            <a:r>
              <a:rPr lang="en-US" altLang="ko-KR" sz="2000" b="1" dirty="0">
                <a:solidFill>
                  <a:srgbClr val="000000"/>
                </a:solidFill>
                <a:latin typeface="NotoSansKR"/>
              </a:rPr>
              <a:t>reward</a:t>
            </a:r>
            <a:r>
              <a:rPr lang="ko-KR" altLang="en-US" sz="2000" b="1" dirty="0">
                <a:solidFill>
                  <a:srgbClr val="000000"/>
                </a:solidFill>
                <a:latin typeface="NotoSansKR"/>
              </a:rPr>
              <a:t>는 타겟 관절각을 얼마나 잘 </a:t>
            </a:r>
            <a:r>
              <a:rPr lang="ko-KR" altLang="en-US" sz="2000" b="1" dirty="0" err="1">
                <a:solidFill>
                  <a:srgbClr val="000000"/>
                </a:solidFill>
                <a:latin typeface="NotoSansKR"/>
              </a:rPr>
              <a:t>따라가는지이다</a:t>
            </a:r>
            <a:r>
              <a:rPr lang="en-US" altLang="ko-KR" sz="2000" b="1" dirty="0">
                <a:solidFill>
                  <a:srgbClr val="000000"/>
                </a:solidFill>
                <a:latin typeface="NotoSansKR"/>
              </a:rPr>
              <a:t>.</a:t>
            </a:r>
          </a:p>
          <a:p>
            <a:pPr algn="l">
              <a:lnSpc>
                <a:spcPct val="150000"/>
              </a:lnSpc>
            </a:pPr>
            <a:r>
              <a:rPr lang="ko-KR" altLang="en-US" sz="2000" b="1" dirty="0">
                <a:solidFill>
                  <a:srgbClr val="000000"/>
                </a:solidFill>
                <a:latin typeface="NotoSansKR"/>
              </a:rPr>
              <a:t>이 </a:t>
            </a:r>
            <a:r>
              <a:rPr lang="ko-KR" altLang="en-US" sz="2000" b="1" dirty="0" err="1">
                <a:solidFill>
                  <a:srgbClr val="000000"/>
                </a:solidFill>
                <a:latin typeface="NotoSansKR"/>
              </a:rPr>
              <a:t>떄</a:t>
            </a:r>
            <a:r>
              <a:rPr lang="ko-KR" altLang="en-US" sz="2000" b="1" dirty="0">
                <a:solidFill>
                  <a:srgbClr val="000000"/>
                </a:solidFill>
                <a:latin typeface="NotoSansKR"/>
              </a:rPr>
              <a:t> 타겟 관절각과 현재 관절각의 차이로 계산된다</a:t>
            </a:r>
            <a:r>
              <a:rPr lang="en-US" altLang="ko-KR" sz="2000" b="1" dirty="0">
                <a:solidFill>
                  <a:srgbClr val="000000"/>
                </a:solidFill>
                <a:latin typeface="NotoSansKR"/>
              </a:rPr>
              <a:t>.</a:t>
            </a:r>
          </a:p>
          <a:p>
            <a:pPr algn="l">
              <a:lnSpc>
                <a:spcPct val="150000"/>
              </a:lnSpc>
            </a:pPr>
            <a:endParaRPr lang="en-US" altLang="ko-KR" sz="2000" b="1" dirty="0">
              <a:solidFill>
                <a:srgbClr val="000000"/>
              </a:solidFill>
              <a:latin typeface="NotoSansKR"/>
            </a:endParaRPr>
          </a:p>
          <a:p>
            <a:pPr algn="l">
              <a:lnSpc>
                <a:spcPct val="150000"/>
              </a:lnSpc>
            </a:pPr>
            <a:r>
              <a:rPr lang="ko-KR" altLang="en-US" sz="2000" b="1" dirty="0">
                <a:solidFill>
                  <a:srgbClr val="000000"/>
                </a:solidFill>
                <a:latin typeface="NotoSansKR"/>
              </a:rPr>
              <a:t>두번째 </a:t>
            </a:r>
            <a:r>
              <a:rPr lang="en-US" altLang="ko-KR" sz="2000" b="1" dirty="0">
                <a:solidFill>
                  <a:srgbClr val="000000"/>
                </a:solidFill>
                <a:latin typeface="NotoSansKR"/>
              </a:rPr>
              <a:t>reward</a:t>
            </a:r>
            <a:r>
              <a:rPr lang="ko-KR" altLang="en-US" sz="2000" b="1" dirty="0">
                <a:solidFill>
                  <a:srgbClr val="000000"/>
                </a:solidFill>
                <a:latin typeface="NotoSansKR"/>
              </a:rPr>
              <a:t>는 </a:t>
            </a:r>
            <a:r>
              <a:rPr lang="ko-KR" altLang="en-US" sz="2000" b="1" dirty="0" err="1">
                <a:solidFill>
                  <a:srgbClr val="000000"/>
                </a:solidFill>
                <a:latin typeface="NotoSansKR"/>
              </a:rPr>
              <a:t>딱밤</a:t>
            </a:r>
            <a:r>
              <a:rPr lang="ko-KR" altLang="en-US" sz="2000" b="1" dirty="0">
                <a:solidFill>
                  <a:srgbClr val="000000"/>
                </a:solidFill>
                <a:latin typeface="NotoSansKR"/>
              </a:rPr>
              <a:t> 자세의 패턴에 대한 보상이다</a:t>
            </a:r>
            <a:r>
              <a:rPr lang="en-US" altLang="ko-KR" sz="2000" b="1" dirty="0">
                <a:solidFill>
                  <a:srgbClr val="000000"/>
                </a:solidFill>
                <a:latin typeface="NotoSansKR"/>
              </a:rPr>
              <a:t>.</a:t>
            </a:r>
          </a:p>
          <a:p>
            <a:pPr algn="l">
              <a:lnSpc>
                <a:spcPct val="150000"/>
              </a:lnSpc>
            </a:pPr>
            <a:r>
              <a:rPr lang="ko-KR" altLang="en-US" sz="2000" b="1" dirty="0">
                <a:solidFill>
                  <a:srgbClr val="000000"/>
                </a:solidFill>
                <a:latin typeface="NotoSansKR"/>
              </a:rPr>
              <a:t>움직임 초반에는 </a:t>
            </a:r>
            <a:r>
              <a:rPr lang="ko-KR" altLang="en-US" sz="2000" b="1" dirty="0" err="1">
                <a:solidFill>
                  <a:srgbClr val="000000"/>
                </a:solidFill>
                <a:latin typeface="NotoSansKR"/>
              </a:rPr>
              <a:t>말려있는</a:t>
            </a:r>
            <a:r>
              <a:rPr lang="ko-KR" altLang="en-US" sz="2000" b="1" dirty="0">
                <a:solidFill>
                  <a:srgbClr val="000000"/>
                </a:solidFill>
                <a:latin typeface="NotoSansKR"/>
              </a:rPr>
              <a:t> 포즈</a:t>
            </a:r>
            <a:r>
              <a:rPr lang="en-US" altLang="ko-KR" sz="2000" b="1" dirty="0">
                <a:solidFill>
                  <a:srgbClr val="000000"/>
                </a:solidFill>
                <a:latin typeface="NotoSansKR"/>
              </a:rPr>
              <a:t>, </a:t>
            </a:r>
            <a:r>
              <a:rPr lang="ko-KR" altLang="en-US" sz="2000" b="1" dirty="0">
                <a:solidFill>
                  <a:srgbClr val="000000"/>
                </a:solidFill>
                <a:latin typeface="NotoSansKR"/>
              </a:rPr>
              <a:t>후반에는 펴져 있는 포즈가 되도록 유도한다</a:t>
            </a:r>
            <a:r>
              <a:rPr lang="en-US" altLang="ko-KR" sz="2000" b="1" dirty="0">
                <a:solidFill>
                  <a:srgbClr val="000000"/>
                </a:solidFill>
                <a:latin typeface="NotoSansKR"/>
              </a:rPr>
              <a:t>.</a:t>
            </a:r>
          </a:p>
          <a:p>
            <a:pPr algn="l">
              <a:lnSpc>
                <a:spcPct val="150000"/>
              </a:lnSpc>
            </a:pPr>
            <a:r>
              <a:rPr lang="ko-KR" altLang="en-US" sz="2000" b="1" dirty="0">
                <a:solidFill>
                  <a:srgbClr val="000000"/>
                </a:solidFill>
                <a:latin typeface="NotoSansKR"/>
              </a:rPr>
              <a:t>초반 구간에서는 </a:t>
            </a:r>
            <a:r>
              <a:rPr lang="ko-KR" altLang="en-US" sz="2000" b="1" dirty="0" err="1">
                <a:solidFill>
                  <a:srgbClr val="000000"/>
                </a:solidFill>
                <a:latin typeface="NotoSansKR"/>
              </a:rPr>
              <a:t>말려있을</a:t>
            </a:r>
            <a:r>
              <a:rPr lang="ko-KR" altLang="en-US" sz="2000" b="1" dirty="0">
                <a:solidFill>
                  <a:srgbClr val="000000"/>
                </a:solidFill>
                <a:latin typeface="NotoSansKR"/>
              </a:rPr>
              <a:t> 수록 보상을 크게</a:t>
            </a:r>
            <a:r>
              <a:rPr lang="en-US" altLang="ko-KR" sz="2000" b="1" dirty="0">
                <a:solidFill>
                  <a:srgbClr val="000000"/>
                </a:solidFill>
                <a:latin typeface="NotoSansKR"/>
              </a:rPr>
              <a:t>, </a:t>
            </a:r>
            <a:r>
              <a:rPr lang="ko-KR" altLang="en-US" sz="2000" b="1" dirty="0">
                <a:solidFill>
                  <a:srgbClr val="000000"/>
                </a:solidFill>
                <a:latin typeface="NotoSansKR"/>
              </a:rPr>
              <a:t>후반 구간에는 </a:t>
            </a:r>
            <a:r>
              <a:rPr lang="ko-KR" altLang="en-US" sz="2000" b="1" dirty="0" err="1">
                <a:solidFill>
                  <a:srgbClr val="000000"/>
                </a:solidFill>
                <a:latin typeface="NotoSansKR"/>
              </a:rPr>
              <a:t>펴져있을</a:t>
            </a:r>
            <a:r>
              <a:rPr lang="ko-KR" altLang="en-US" sz="2000" b="1" dirty="0">
                <a:solidFill>
                  <a:srgbClr val="000000"/>
                </a:solidFill>
                <a:latin typeface="NotoSansKR"/>
              </a:rPr>
              <a:t> 수록 보상을 크게 주도록 한다</a:t>
            </a:r>
            <a:r>
              <a:rPr lang="en-US" altLang="ko-KR" sz="2000" b="1" dirty="0">
                <a:solidFill>
                  <a:srgbClr val="000000"/>
                </a:solidFill>
                <a:latin typeface="NotoSansKR"/>
              </a:rPr>
              <a:t>.</a:t>
            </a:r>
          </a:p>
          <a:p>
            <a:pPr algn="l">
              <a:lnSpc>
                <a:spcPct val="150000"/>
              </a:lnSpc>
            </a:pPr>
            <a:endParaRPr lang="en-US" altLang="ko-KR" sz="2000" b="1" dirty="0">
              <a:solidFill>
                <a:srgbClr val="000000"/>
              </a:solidFill>
              <a:latin typeface="NotoSansKR"/>
            </a:endParaRPr>
          </a:p>
          <a:p>
            <a:pPr algn="l">
              <a:lnSpc>
                <a:spcPct val="150000"/>
              </a:lnSpc>
            </a:pPr>
            <a:r>
              <a:rPr lang="ko-KR" altLang="en-US" sz="2000" b="1" dirty="0">
                <a:solidFill>
                  <a:srgbClr val="000000"/>
                </a:solidFill>
                <a:latin typeface="NotoSansKR"/>
              </a:rPr>
              <a:t>세번째 </a:t>
            </a:r>
            <a:r>
              <a:rPr lang="en-US" altLang="ko-KR" sz="2000" b="1" dirty="0" err="1">
                <a:solidFill>
                  <a:srgbClr val="000000"/>
                </a:solidFill>
                <a:latin typeface="NotoSansKR"/>
              </a:rPr>
              <a:t>rewar</a:t>
            </a:r>
            <a:r>
              <a:rPr lang="ko-KR" altLang="en-US" sz="2000" b="1" dirty="0">
                <a:solidFill>
                  <a:srgbClr val="000000"/>
                </a:solidFill>
                <a:latin typeface="NotoSansKR"/>
              </a:rPr>
              <a:t>는 마지막 타임스텝에서 최대한 </a:t>
            </a:r>
            <a:r>
              <a:rPr lang="en-US" altLang="ko-KR" sz="2000" b="1" dirty="0">
                <a:solidFill>
                  <a:srgbClr val="000000"/>
                </a:solidFill>
                <a:latin typeface="NotoSansKR"/>
              </a:rPr>
              <a:t>fully-</a:t>
            </a:r>
            <a:r>
              <a:rPr lang="en-US" altLang="ko-KR" sz="2000" b="1" dirty="0" err="1">
                <a:solidFill>
                  <a:srgbClr val="000000"/>
                </a:solidFill>
                <a:latin typeface="NotoSansKR"/>
              </a:rPr>
              <a:t>exten</a:t>
            </a:r>
            <a:r>
              <a:rPr lang="ko-KR" altLang="en-US" sz="2000" b="1" dirty="0">
                <a:solidFill>
                  <a:srgbClr val="000000"/>
                </a:solidFill>
                <a:latin typeface="NotoSansKR"/>
              </a:rPr>
              <a:t>일 수록 큰 보상을 주게 한다</a:t>
            </a:r>
            <a:r>
              <a:rPr lang="en-US" altLang="ko-KR" sz="2000" b="1" dirty="0">
                <a:solidFill>
                  <a:srgbClr val="000000"/>
                </a:solidFill>
                <a:latin typeface="NotoSansKR"/>
              </a:rPr>
              <a:t>.</a:t>
            </a: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ko-KR" sz="2000" b="1" dirty="0">
              <a:solidFill>
                <a:srgbClr val="000000"/>
              </a:solidFill>
              <a:latin typeface="NotoSansKR"/>
            </a:endParaRP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ko-KR" sz="2000" b="1" dirty="0">
              <a:solidFill>
                <a:srgbClr val="000000"/>
              </a:solidFill>
              <a:latin typeface="NotoSansKR"/>
            </a:endParaRPr>
          </a:p>
          <a:p>
            <a:pPr algn="l">
              <a:lnSpc>
                <a:spcPct val="150000"/>
              </a:lnSpc>
            </a:pPr>
            <a:br>
              <a:rPr lang="ko-KR" altLang="en-US" b="0" i="0" dirty="0">
                <a:effectLst/>
                <a:latin typeface="NotoSansKR"/>
              </a:rPr>
            </a:b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059279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222"/>
    </mc:Choice>
    <mc:Fallback xmlns="">
      <p:transition spd="slow" advTm="2222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954E23-EE1D-8579-70BE-9C9ADF7807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3622D26F-20C2-50D3-9EB7-D3FF7BFE2D0A}"/>
              </a:ext>
            </a:extLst>
          </p:cNvPr>
          <p:cNvSpPr txBox="1"/>
          <p:nvPr/>
        </p:nvSpPr>
        <p:spPr>
          <a:xfrm>
            <a:off x="880557" y="742224"/>
            <a:ext cx="61762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2400" b="1" spc="-60" dirty="0">
                <a:latin typeface="Pretendard Medium" panose="02000503000000020004" pitchFamily="2" charset="-127"/>
                <a:ea typeface="Pretendard Medium" panose="02000503000000020004" pitchFamily="2" charset="-127"/>
              </a:rPr>
              <a:t>강화학습 알고리즘 및 </a:t>
            </a:r>
            <a:r>
              <a:rPr kumimoji="1" lang="en-US" altLang="ko-KR" sz="2400" b="1" spc="-60" dirty="0">
                <a:latin typeface="Pretendard Medium" panose="02000503000000020004" pitchFamily="2" charset="-127"/>
                <a:ea typeface="Pretendard Medium" panose="02000503000000020004" pitchFamily="2" charset="-127"/>
              </a:rPr>
              <a:t>Hyperparameter </a:t>
            </a:r>
            <a:r>
              <a:rPr kumimoji="1" lang="ko-KR" altLang="en-US" sz="2400" b="1" spc="-60" dirty="0">
                <a:latin typeface="Pretendard Medium" panose="02000503000000020004" pitchFamily="2" charset="-127"/>
                <a:ea typeface="Pretendard Medium" panose="02000503000000020004" pitchFamily="2" charset="-127"/>
              </a:rPr>
              <a:t>설정</a:t>
            </a:r>
            <a:endParaRPr kumimoji="1" lang="en-US" altLang="ko-KR" sz="2400" b="1" spc="-60" dirty="0">
              <a:latin typeface="Pretendard Medium" panose="02000503000000020004" pitchFamily="2" charset="-127"/>
              <a:ea typeface="Pretendard Medium" panose="02000503000000020004" pitchFamily="2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3520C52-4FD5-4298-1D4F-FBC235E41762}"/>
              </a:ext>
            </a:extLst>
          </p:cNvPr>
          <p:cNvSpPr/>
          <p:nvPr/>
        </p:nvSpPr>
        <p:spPr>
          <a:xfrm>
            <a:off x="714703" y="794381"/>
            <a:ext cx="147145" cy="357352"/>
          </a:xfrm>
          <a:prstGeom prst="rect">
            <a:avLst/>
          </a:prstGeom>
          <a:solidFill>
            <a:srgbClr val="DA0F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US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4D35738-0B3B-E6D8-E45D-9E473E983201}"/>
              </a:ext>
            </a:extLst>
          </p:cNvPr>
          <p:cNvSpPr txBox="1"/>
          <p:nvPr/>
        </p:nvSpPr>
        <p:spPr>
          <a:xfrm>
            <a:off x="788275" y="1728738"/>
            <a:ext cx="9636820" cy="640976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2000" b="1" dirty="0">
                <a:solidFill>
                  <a:srgbClr val="000000"/>
                </a:solidFill>
                <a:latin typeface="NotoSansKR"/>
              </a:rPr>
              <a:t>사용 알고리즘</a:t>
            </a:r>
            <a:endParaRPr lang="en-US" altLang="ko-KR" sz="2000" b="1" dirty="0">
              <a:solidFill>
                <a:srgbClr val="000000"/>
              </a:solidFill>
              <a:latin typeface="NotoSansKR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>
                <a:solidFill>
                  <a:srgbClr val="000000"/>
                </a:solidFill>
                <a:latin typeface="NotoSansKR"/>
              </a:rPr>
              <a:t>PPO (Proximal Policy Optimization), on-policy actor-critic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>
                <a:solidFill>
                  <a:srgbClr val="000000"/>
                </a:solidFill>
                <a:latin typeface="NotoSansKR"/>
              </a:rPr>
              <a:t>Gaussian policy + state-value function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ko-KR" sz="2000" b="1" dirty="0">
              <a:solidFill>
                <a:srgbClr val="000000"/>
              </a:solidFill>
              <a:latin typeface="NotoSansKR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>
                <a:solidFill>
                  <a:srgbClr val="000000"/>
                </a:solidFill>
                <a:latin typeface="NotoSansKR"/>
              </a:rPr>
              <a:t>Policy / Value Network </a:t>
            </a:r>
            <a:r>
              <a:rPr lang="ko-KR" altLang="en-US" sz="2000" b="1" dirty="0">
                <a:solidFill>
                  <a:srgbClr val="000000"/>
                </a:solidFill>
                <a:latin typeface="NotoSansKR"/>
              </a:rPr>
              <a:t>구조</a:t>
            </a:r>
            <a:endParaRPr lang="en-US" altLang="ko-KR" sz="2000" b="1" dirty="0">
              <a:solidFill>
                <a:srgbClr val="000000"/>
              </a:solidFill>
              <a:latin typeface="NotoSansKR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>
                <a:solidFill>
                  <a:srgbClr val="000000"/>
                </a:solidFill>
                <a:latin typeface="NotoSansKR"/>
              </a:rPr>
              <a:t>Actor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2000" b="1" dirty="0">
                <a:solidFill>
                  <a:srgbClr val="000000"/>
                </a:solidFill>
                <a:latin typeface="NotoSansKR"/>
              </a:rPr>
              <a:t>입력 </a:t>
            </a:r>
            <a:r>
              <a:rPr lang="en-US" altLang="ko-KR" sz="2000" b="1" dirty="0">
                <a:solidFill>
                  <a:srgbClr val="000000"/>
                </a:solidFill>
                <a:latin typeface="NotoSansKR"/>
              </a:rPr>
              <a:t>state 7</a:t>
            </a:r>
            <a:r>
              <a:rPr lang="ko-KR" altLang="en-US" sz="2000" b="1" dirty="0">
                <a:solidFill>
                  <a:srgbClr val="000000"/>
                </a:solidFill>
                <a:latin typeface="NotoSansKR"/>
              </a:rPr>
              <a:t>차원</a:t>
            </a:r>
            <a:endParaRPr lang="en-US" altLang="ko-KR" sz="2000" b="1" dirty="0">
              <a:solidFill>
                <a:srgbClr val="000000"/>
              </a:solidFill>
              <a:latin typeface="NotoSansKR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>
                <a:solidFill>
                  <a:srgbClr val="000000"/>
                </a:solidFill>
                <a:latin typeface="NotoSansKR"/>
              </a:rPr>
              <a:t> MLP: Linear(7-&gt;128) –Tanh – Linear(128-128) – Tanh –Linear(128- </a:t>
            </a:r>
            <a:r>
              <a:rPr lang="en-US" altLang="ko-KR" sz="2000" b="1" dirty="0" err="1">
                <a:solidFill>
                  <a:srgbClr val="000000"/>
                </a:solidFill>
                <a:latin typeface="NotoSansKR"/>
              </a:rPr>
              <a:t>action_dim</a:t>
            </a:r>
            <a:r>
              <a:rPr lang="en-US" altLang="ko-KR" sz="2000" b="1" dirty="0">
                <a:solidFill>
                  <a:srgbClr val="000000"/>
                </a:solidFill>
                <a:latin typeface="NotoSansKR"/>
              </a:rPr>
              <a:t>)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>
                <a:solidFill>
                  <a:srgbClr val="000000"/>
                </a:solidFill>
                <a:latin typeface="NotoSansKR"/>
              </a:rPr>
              <a:t>Critic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2000" b="1" dirty="0">
                <a:solidFill>
                  <a:srgbClr val="000000"/>
                </a:solidFill>
                <a:latin typeface="NotoSansKR"/>
              </a:rPr>
              <a:t>입력 </a:t>
            </a:r>
            <a:r>
              <a:rPr lang="en-US" altLang="ko-KR" sz="2000" b="1" dirty="0">
                <a:solidFill>
                  <a:srgbClr val="000000"/>
                </a:solidFill>
                <a:latin typeface="NotoSansKR"/>
              </a:rPr>
              <a:t>state 7</a:t>
            </a:r>
            <a:r>
              <a:rPr lang="ko-KR" altLang="en-US" sz="2000" b="1" dirty="0">
                <a:solidFill>
                  <a:srgbClr val="000000"/>
                </a:solidFill>
                <a:latin typeface="NotoSansKR"/>
              </a:rPr>
              <a:t>차원</a:t>
            </a:r>
            <a:endParaRPr lang="en-US" altLang="ko-KR" sz="2000" b="1" dirty="0">
              <a:solidFill>
                <a:srgbClr val="000000"/>
              </a:solidFill>
              <a:latin typeface="NotoSansKR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 err="1">
                <a:solidFill>
                  <a:srgbClr val="000000"/>
                </a:solidFill>
                <a:latin typeface="NotoSansKR"/>
              </a:rPr>
              <a:t>Mlp</a:t>
            </a:r>
            <a:r>
              <a:rPr lang="en-US" altLang="ko-KR" sz="2000" b="1" dirty="0">
                <a:solidFill>
                  <a:srgbClr val="000000"/>
                </a:solidFill>
                <a:latin typeface="NotoSansKR"/>
              </a:rPr>
              <a:t> </a:t>
            </a:r>
            <a:r>
              <a:rPr lang="ko-KR" altLang="en-US" sz="2000" b="1" dirty="0">
                <a:solidFill>
                  <a:srgbClr val="000000"/>
                </a:solidFill>
                <a:latin typeface="NotoSansKR"/>
              </a:rPr>
              <a:t>구조 동일</a:t>
            </a:r>
            <a:r>
              <a:rPr lang="en-US" altLang="ko-KR" sz="2000" b="1" dirty="0">
                <a:solidFill>
                  <a:srgbClr val="000000"/>
                </a:solidFill>
                <a:latin typeface="NotoSansKR"/>
              </a:rPr>
              <a:t>, </a:t>
            </a:r>
            <a:r>
              <a:rPr lang="ko-KR" altLang="en-US" sz="2000" b="1" dirty="0">
                <a:solidFill>
                  <a:srgbClr val="000000"/>
                </a:solidFill>
                <a:latin typeface="NotoSansKR"/>
              </a:rPr>
              <a:t>마지막 출력 차원만 </a:t>
            </a:r>
            <a:r>
              <a:rPr lang="en-US" altLang="ko-KR" sz="2000" b="1" dirty="0">
                <a:solidFill>
                  <a:srgbClr val="000000"/>
                </a:solidFill>
                <a:latin typeface="NotoSansKR"/>
              </a:rPr>
              <a:t>1</a:t>
            </a: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ko-KR" sz="2000" b="1" dirty="0">
              <a:solidFill>
                <a:srgbClr val="000000"/>
              </a:solidFill>
              <a:latin typeface="NotoSansKR"/>
            </a:endParaRPr>
          </a:p>
          <a:p>
            <a:pPr algn="l">
              <a:lnSpc>
                <a:spcPct val="150000"/>
              </a:lnSpc>
            </a:pPr>
            <a:br>
              <a:rPr lang="ko-KR" altLang="en-US" b="0" i="0" dirty="0">
                <a:effectLst/>
                <a:latin typeface="NotoSansKR"/>
              </a:rPr>
            </a:b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658654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222"/>
    </mc:Choice>
    <mc:Fallback xmlns="">
      <p:transition spd="slow" advTm="2222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87F587-5D80-0B83-81AF-266AAF5F2B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E4D3BA70-68BC-0E1B-3931-6B0B618C468E}"/>
              </a:ext>
            </a:extLst>
          </p:cNvPr>
          <p:cNvSpPr txBox="1"/>
          <p:nvPr/>
        </p:nvSpPr>
        <p:spPr>
          <a:xfrm>
            <a:off x="880557" y="742224"/>
            <a:ext cx="61762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2400" b="1" spc="-60" dirty="0">
                <a:latin typeface="Pretendard Medium" panose="02000503000000020004" pitchFamily="2" charset="-127"/>
                <a:ea typeface="Pretendard Medium" panose="02000503000000020004" pitchFamily="2" charset="-127"/>
              </a:rPr>
              <a:t>강화학습 알고리즘 및 </a:t>
            </a:r>
            <a:r>
              <a:rPr kumimoji="1" lang="en-US" altLang="ko-KR" sz="2400" b="1" spc="-60" dirty="0">
                <a:latin typeface="Pretendard Medium" panose="02000503000000020004" pitchFamily="2" charset="-127"/>
                <a:ea typeface="Pretendard Medium" panose="02000503000000020004" pitchFamily="2" charset="-127"/>
              </a:rPr>
              <a:t>Hyperparameter </a:t>
            </a:r>
            <a:r>
              <a:rPr kumimoji="1" lang="ko-KR" altLang="en-US" sz="2400" b="1" spc="-60" dirty="0">
                <a:latin typeface="Pretendard Medium" panose="02000503000000020004" pitchFamily="2" charset="-127"/>
                <a:ea typeface="Pretendard Medium" panose="02000503000000020004" pitchFamily="2" charset="-127"/>
              </a:rPr>
              <a:t>설정</a:t>
            </a:r>
            <a:endParaRPr kumimoji="1" lang="en-US" altLang="ko-KR" sz="2400" b="1" spc="-60" dirty="0">
              <a:latin typeface="Pretendard Medium" panose="02000503000000020004" pitchFamily="2" charset="-127"/>
              <a:ea typeface="Pretendard Medium" panose="02000503000000020004" pitchFamily="2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381336F-9E4C-F3ED-D560-51285FFC1D42}"/>
              </a:ext>
            </a:extLst>
          </p:cNvPr>
          <p:cNvSpPr/>
          <p:nvPr/>
        </p:nvSpPr>
        <p:spPr>
          <a:xfrm>
            <a:off x="714703" y="794381"/>
            <a:ext cx="147145" cy="357352"/>
          </a:xfrm>
          <a:prstGeom prst="rect">
            <a:avLst/>
          </a:prstGeom>
          <a:solidFill>
            <a:srgbClr val="DA0F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US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07D37EA-9B40-CE4D-180C-F80FE775081F}"/>
              </a:ext>
            </a:extLst>
          </p:cNvPr>
          <p:cNvSpPr txBox="1"/>
          <p:nvPr/>
        </p:nvSpPr>
        <p:spPr>
          <a:xfrm>
            <a:off x="788275" y="1728738"/>
            <a:ext cx="9636820" cy="502477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>
                <a:solidFill>
                  <a:srgbClr val="000000"/>
                </a:solidFill>
                <a:latin typeface="NotoSansKR"/>
              </a:rPr>
              <a:t>Hyperparameter </a:t>
            </a:r>
            <a:r>
              <a:rPr lang="ko-KR" altLang="en-US" sz="2000" b="1" dirty="0">
                <a:solidFill>
                  <a:srgbClr val="000000"/>
                </a:solidFill>
                <a:latin typeface="NotoSansKR"/>
              </a:rPr>
              <a:t>설정</a:t>
            </a:r>
            <a:endParaRPr lang="en-US" altLang="ko-KR" sz="2000" b="1" dirty="0">
              <a:solidFill>
                <a:srgbClr val="000000"/>
              </a:solidFill>
              <a:latin typeface="NotoSansKR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2000" b="1" dirty="0">
                <a:solidFill>
                  <a:srgbClr val="000000"/>
                </a:solidFill>
                <a:latin typeface="NotoSansKR"/>
              </a:rPr>
              <a:t>학습 세팅</a:t>
            </a:r>
            <a:endParaRPr lang="en-US" altLang="ko-KR" sz="2000" b="1" dirty="0">
              <a:solidFill>
                <a:srgbClr val="000000"/>
              </a:solidFill>
              <a:latin typeface="NotoSansKR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>
                <a:solidFill>
                  <a:srgbClr val="000000"/>
                </a:solidFill>
                <a:latin typeface="NotoSansKR"/>
              </a:rPr>
              <a:t>TOTAL_UPDATES = 10,000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>
                <a:solidFill>
                  <a:srgbClr val="000000"/>
                </a:solidFill>
                <a:latin typeface="NotoSansKR"/>
              </a:rPr>
              <a:t>STEPS_PER_UPDATE =1,024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>
                <a:solidFill>
                  <a:srgbClr val="000000"/>
                </a:solidFill>
                <a:latin typeface="NotoSansKR"/>
              </a:rPr>
              <a:t>PPO_EPOCHS = 5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>
                <a:solidFill>
                  <a:srgbClr val="000000"/>
                </a:solidFill>
                <a:latin typeface="NotoSansKR"/>
              </a:rPr>
              <a:t>BATCH_SIZE = 256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>
                <a:solidFill>
                  <a:srgbClr val="000000"/>
                </a:solidFill>
                <a:latin typeface="NotoSansKR"/>
              </a:rPr>
              <a:t>Gamma = 0.99, lambda = 0.95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>
                <a:solidFill>
                  <a:srgbClr val="000000"/>
                </a:solidFill>
                <a:latin typeface="NotoSansKR"/>
              </a:rPr>
              <a:t>Clip epsilon = 0.2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>
                <a:solidFill>
                  <a:srgbClr val="000000"/>
                </a:solidFill>
                <a:latin typeface="NotoSansKR"/>
              </a:rPr>
              <a:t>Optimizer : Adam, learning rate = 1 x 10^-5</a:t>
            </a:r>
          </a:p>
          <a:p>
            <a:pPr algn="l">
              <a:lnSpc>
                <a:spcPct val="150000"/>
              </a:lnSpc>
            </a:pPr>
            <a:br>
              <a:rPr lang="ko-KR" altLang="en-US" b="0" i="0" dirty="0">
                <a:effectLst/>
                <a:latin typeface="NotoSansKR"/>
              </a:rPr>
            </a:b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0834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222"/>
    </mc:Choice>
    <mc:Fallback xmlns="">
      <p:transition spd="slow" advTm="2222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DA09F5-312A-5701-D2F1-D1AD58CE19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75994F57-38F8-094A-FE11-55AEA3CA64CC}"/>
              </a:ext>
            </a:extLst>
          </p:cNvPr>
          <p:cNvSpPr txBox="1"/>
          <p:nvPr/>
        </p:nvSpPr>
        <p:spPr>
          <a:xfrm>
            <a:off x="880557" y="742224"/>
            <a:ext cx="61762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2400" b="1" spc="-60" dirty="0">
                <a:latin typeface="Pretendard Medium" panose="02000503000000020004" pitchFamily="2" charset="-127"/>
                <a:ea typeface="Pretendard Medium" panose="02000503000000020004" pitchFamily="2" charset="-127"/>
              </a:rPr>
              <a:t>강화학습 알고리즘 및 </a:t>
            </a:r>
            <a:r>
              <a:rPr kumimoji="1" lang="en-US" altLang="ko-KR" sz="2400" b="1" spc="-60" dirty="0">
                <a:latin typeface="Pretendard Medium" panose="02000503000000020004" pitchFamily="2" charset="-127"/>
                <a:ea typeface="Pretendard Medium" panose="02000503000000020004" pitchFamily="2" charset="-127"/>
              </a:rPr>
              <a:t>Hyperparameter </a:t>
            </a:r>
            <a:r>
              <a:rPr kumimoji="1" lang="ko-KR" altLang="en-US" sz="2400" b="1" spc="-60" dirty="0">
                <a:latin typeface="Pretendard Medium" panose="02000503000000020004" pitchFamily="2" charset="-127"/>
                <a:ea typeface="Pretendard Medium" panose="02000503000000020004" pitchFamily="2" charset="-127"/>
              </a:rPr>
              <a:t>설정</a:t>
            </a:r>
            <a:endParaRPr kumimoji="1" lang="en-US" altLang="ko-KR" sz="2400" b="1" spc="-60" dirty="0">
              <a:latin typeface="Pretendard Medium" panose="02000503000000020004" pitchFamily="2" charset="-127"/>
              <a:ea typeface="Pretendard Medium" panose="02000503000000020004" pitchFamily="2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3DC886D-F37B-0387-4066-D1A28D2F3C99}"/>
              </a:ext>
            </a:extLst>
          </p:cNvPr>
          <p:cNvSpPr/>
          <p:nvPr/>
        </p:nvSpPr>
        <p:spPr>
          <a:xfrm>
            <a:off x="714703" y="794381"/>
            <a:ext cx="147145" cy="357352"/>
          </a:xfrm>
          <a:prstGeom prst="rect">
            <a:avLst/>
          </a:prstGeom>
          <a:solidFill>
            <a:srgbClr val="DA0F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US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4633F3A-94C6-6A07-F02A-5B6DAF8FCE51}"/>
              </a:ext>
            </a:extLst>
          </p:cNvPr>
          <p:cNvSpPr txBox="1"/>
          <p:nvPr/>
        </p:nvSpPr>
        <p:spPr>
          <a:xfrm>
            <a:off x="788275" y="1728738"/>
            <a:ext cx="9636820" cy="456310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>
                <a:solidFill>
                  <a:srgbClr val="000000"/>
                </a:solidFill>
                <a:latin typeface="NotoSansKR"/>
              </a:rPr>
              <a:t>BC- like Warm start 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2000" b="1" dirty="0">
                <a:solidFill>
                  <a:srgbClr val="000000"/>
                </a:solidFill>
                <a:latin typeface="NotoSansKR"/>
              </a:rPr>
              <a:t>초반 업데이트 구간에서 </a:t>
            </a:r>
            <a:r>
              <a:rPr lang="en-US" altLang="ko-KR" sz="2000" b="1" dirty="0">
                <a:solidFill>
                  <a:srgbClr val="000000"/>
                </a:solidFill>
                <a:latin typeface="NotoSansKR"/>
              </a:rPr>
              <a:t>expert-lick </a:t>
            </a:r>
            <a:r>
              <a:rPr lang="en-US" altLang="ko-KR" sz="2000" b="1" dirty="0" err="1">
                <a:solidFill>
                  <a:srgbClr val="000000"/>
                </a:solidFill>
                <a:latin typeface="NotoSansKR"/>
              </a:rPr>
              <a:t>actio</a:t>
            </a:r>
            <a:r>
              <a:rPr lang="ko-KR" altLang="en-US" sz="2000" b="1" dirty="0">
                <a:solidFill>
                  <a:srgbClr val="000000"/>
                </a:solidFill>
                <a:latin typeface="NotoSansKR"/>
              </a:rPr>
              <a:t>으로 </a:t>
            </a:r>
            <a:r>
              <a:rPr lang="en-US" altLang="ko-KR" sz="2000" b="1" dirty="0">
                <a:solidFill>
                  <a:srgbClr val="000000"/>
                </a:solidFill>
                <a:latin typeface="NotoSansKR"/>
              </a:rPr>
              <a:t>policy</a:t>
            </a:r>
            <a:r>
              <a:rPr lang="ko-KR" altLang="en-US" sz="2000" b="1" dirty="0">
                <a:solidFill>
                  <a:srgbClr val="000000"/>
                </a:solidFill>
                <a:latin typeface="NotoSansKR"/>
              </a:rPr>
              <a:t>를 유도</a:t>
            </a:r>
            <a:endParaRPr lang="en-US" altLang="ko-KR" sz="2000" b="1" dirty="0">
              <a:solidFill>
                <a:srgbClr val="000000"/>
              </a:solidFill>
              <a:latin typeface="NotoSansKR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>
                <a:solidFill>
                  <a:srgbClr val="000000"/>
                </a:solidFill>
                <a:latin typeface="NotoSansKR"/>
              </a:rPr>
              <a:t>Actor</a:t>
            </a:r>
            <a:r>
              <a:rPr lang="ko-KR" altLang="en-US" sz="2000" b="1" dirty="0">
                <a:solidFill>
                  <a:srgbClr val="000000"/>
                </a:solidFill>
                <a:latin typeface="NotoSansKR"/>
              </a:rPr>
              <a:t>가 내는 </a:t>
            </a:r>
            <a:r>
              <a:rPr lang="en-US" altLang="ko-KR" sz="2000" b="1" dirty="0">
                <a:solidFill>
                  <a:srgbClr val="000000"/>
                </a:solidFill>
                <a:latin typeface="NotoSansKR"/>
              </a:rPr>
              <a:t>mean</a:t>
            </a:r>
            <a:r>
              <a:rPr lang="ko-KR" altLang="en-US" sz="2000" b="1" dirty="0">
                <a:solidFill>
                  <a:srgbClr val="000000"/>
                </a:solidFill>
                <a:latin typeface="NotoSansKR"/>
              </a:rPr>
              <a:t>과 </a:t>
            </a:r>
            <a:r>
              <a:rPr lang="en-US" altLang="ko-KR" sz="2000" b="1" dirty="0">
                <a:solidFill>
                  <a:srgbClr val="000000"/>
                </a:solidFill>
                <a:latin typeface="NotoSansKR"/>
              </a:rPr>
              <a:t>expert</a:t>
            </a:r>
            <a:r>
              <a:rPr lang="ko-KR" altLang="en-US" sz="2000" b="1" dirty="0">
                <a:solidFill>
                  <a:srgbClr val="000000"/>
                </a:solidFill>
                <a:latin typeface="NotoSansKR"/>
              </a:rPr>
              <a:t>의 </a:t>
            </a:r>
            <a:r>
              <a:rPr lang="en-US" altLang="ko-KR" sz="2000" b="1" dirty="0" err="1">
                <a:solidFill>
                  <a:srgbClr val="000000"/>
                </a:solidFill>
                <a:latin typeface="NotoSansKR"/>
              </a:rPr>
              <a:t>actio</a:t>
            </a:r>
            <a:r>
              <a:rPr lang="ko-KR" altLang="en-US" sz="2000" b="1" dirty="0">
                <a:solidFill>
                  <a:srgbClr val="000000"/>
                </a:solidFill>
                <a:latin typeface="NotoSansKR"/>
              </a:rPr>
              <a:t>의 </a:t>
            </a:r>
            <a:r>
              <a:rPr lang="en-US" altLang="ko-KR" sz="2000" b="1" dirty="0">
                <a:solidFill>
                  <a:srgbClr val="000000"/>
                </a:solidFill>
                <a:latin typeface="NotoSansKR"/>
              </a:rPr>
              <a:t>MSE</a:t>
            </a:r>
            <a:r>
              <a:rPr lang="ko-KR" altLang="en-US" sz="2000" b="1" dirty="0">
                <a:solidFill>
                  <a:srgbClr val="000000"/>
                </a:solidFill>
                <a:latin typeface="NotoSansKR"/>
              </a:rPr>
              <a:t>를 </a:t>
            </a:r>
            <a:r>
              <a:rPr lang="en-US" altLang="ko-KR" sz="2000" b="1" dirty="0">
                <a:solidFill>
                  <a:srgbClr val="000000"/>
                </a:solidFill>
                <a:latin typeface="NotoSansKR"/>
              </a:rPr>
              <a:t>BC loss</a:t>
            </a:r>
            <a:r>
              <a:rPr lang="ko-KR" altLang="en-US" sz="2000" b="1" dirty="0">
                <a:solidFill>
                  <a:srgbClr val="000000"/>
                </a:solidFill>
                <a:latin typeface="NotoSansKR"/>
              </a:rPr>
              <a:t>로 추가</a:t>
            </a:r>
            <a:endParaRPr lang="en-US" altLang="ko-KR" sz="2000" b="1" dirty="0">
              <a:solidFill>
                <a:srgbClr val="000000"/>
              </a:solidFill>
              <a:latin typeface="NotoSansKR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ko-KR" sz="2000" b="1" dirty="0">
              <a:solidFill>
                <a:srgbClr val="000000"/>
              </a:solidFill>
              <a:latin typeface="NotoSansKR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 err="1">
                <a:solidFill>
                  <a:srgbClr val="000000"/>
                </a:solidFill>
                <a:latin typeface="NotoSansKR"/>
              </a:rPr>
              <a:t>Hyperparams</a:t>
            </a:r>
            <a:endParaRPr lang="en-US" altLang="ko-KR" sz="2000" b="1" dirty="0">
              <a:solidFill>
                <a:srgbClr val="000000"/>
              </a:solidFill>
              <a:latin typeface="NotoSansKR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>
                <a:solidFill>
                  <a:srgbClr val="000000"/>
                </a:solidFill>
                <a:latin typeface="NotoSansKR"/>
              </a:rPr>
              <a:t>BC_KP = 1.0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>
                <a:solidFill>
                  <a:srgbClr val="000000"/>
                </a:solidFill>
                <a:latin typeface="NotoSansKR"/>
              </a:rPr>
              <a:t>BC_LAMBDA= 0.1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>
                <a:solidFill>
                  <a:srgbClr val="000000"/>
                </a:solidFill>
                <a:latin typeface="NotoSansKR"/>
              </a:rPr>
              <a:t>BC_WARM_UPDATES= 500</a:t>
            </a:r>
          </a:p>
          <a:p>
            <a:pPr algn="l">
              <a:lnSpc>
                <a:spcPct val="150000"/>
              </a:lnSpc>
            </a:pPr>
            <a:br>
              <a:rPr lang="ko-KR" altLang="en-US" b="0" i="0" dirty="0">
                <a:effectLst/>
                <a:latin typeface="NotoSansKR"/>
              </a:rPr>
            </a:b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55606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222"/>
    </mc:Choice>
    <mc:Fallback xmlns="">
      <p:transition spd="slow" advTm="2222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70C1D0-7AD0-E7E3-E079-F29092E972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389BA2C7-2E6E-4317-709C-7D5612C10AB2}"/>
              </a:ext>
            </a:extLst>
          </p:cNvPr>
          <p:cNvSpPr txBox="1"/>
          <p:nvPr/>
        </p:nvSpPr>
        <p:spPr>
          <a:xfrm>
            <a:off x="880557" y="742224"/>
            <a:ext cx="14863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2400" b="1" spc="-60" dirty="0">
                <a:latin typeface="Pretendard Medium" panose="02000503000000020004" pitchFamily="2" charset="-127"/>
                <a:ea typeface="Pretendard Medium" panose="02000503000000020004" pitchFamily="2" charset="-127"/>
              </a:rPr>
              <a:t>실험 셋업</a:t>
            </a:r>
            <a:endParaRPr kumimoji="1" lang="en-US" altLang="ko-KR" sz="2400" b="1" spc="-60" dirty="0">
              <a:latin typeface="Pretendard Medium" panose="02000503000000020004" pitchFamily="2" charset="-127"/>
              <a:ea typeface="Pretendard Medium" panose="02000503000000020004" pitchFamily="2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D777814-83C1-17D6-DE97-C2E14F441BBE}"/>
              </a:ext>
            </a:extLst>
          </p:cNvPr>
          <p:cNvSpPr/>
          <p:nvPr/>
        </p:nvSpPr>
        <p:spPr>
          <a:xfrm>
            <a:off x="714703" y="794381"/>
            <a:ext cx="147145" cy="357352"/>
          </a:xfrm>
          <a:prstGeom prst="rect">
            <a:avLst/>
          </a:prstGeom>
          <a:solidFill>
            <a:srgbClr val="DA0F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US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B84B876-98A0-ADE9-6CE5-B9449B549D9D}"/>
              </a:ext>
            </a:extLst>
          </p:cNvPr>
          <p:cNvSpPr txBox="1"/>
          <p:nvPr/>
        </p:nvSpPr>
        <p:spPr>
          <a:xfrm>
            <a:off x="788275" y="1728738"/>
            <a:ext cx="9636820" cy="507094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2000" b="1" i="0" dirty="0">
                <a:solidFill>
                  <a:srgbClr val="000000"/>
                </a:solidFill>
                <a:effectLst/>
                <a:latin typeface="NotoSansKR"/>
              </a:rPr>
              <a:t>실험 환경</a:t>
            </a:r>
            <a:endParaRPr lang="en-US" altLang="ko-KR" sz="2000" b="1" i="0" dirty="0">
              <a:solidFill>
                <a:srgbClr val="000000"/>
              </a:solidFill>
              <a:effectLst/>
              <a:latin typeface="NotoSansKR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b="0" i="0" dirty="0">
                <a:effectLst/>
                <a:latin typeface="NotoSansKR"/>
              </a:rPr>
              <a:t>Simulator : </a:t>
            </a:r>
            <a:r>
              <a:rPr lang="en-US" altLang="ko-KR" b="0" i="0" dirty="0" err="1">
                <a:effectLst/>
                <a:latin typeface="NotoSansKR"/>
              </a:rPr>
              <a:t>MyoSuite</a:t>
            </a:r>
            <a:r>
              <a:rPr lang="en-US" altLang="ko-KR" b="0" i="0" dirty="0">
                <a:effectLst/>
                <a:latin typeface="NotoSansKR"/>
              </a:rPr>
              <a:t> (</a:t>
            </a:r>
            <a:r>
              <a:rPr lang="en-US" altLang="ko-KR" b="0" i="0" dirty="0" err="1">
                <a:effectLst/>
                <a:latin typeface="NotoSansKR"/>
              </a:rPr>
              <a:t>MuJoCo</a:t>
            </a:r>
            <a:r>
              <a:rPr lang="en-US" altLang="ko-KR" b="0" i="0" dirty="0">
                <a:effectLst/>
                <a:latin typeface="NotoSansKR"/>
              </a:rPr>
              <a:t> based)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dirty="0">
                <a:latin typeface="NotoSansKR"/>
              </a:rPr>
              <a:t>Env: motorFingerPoseFIxed-v0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dirty="0">
                <a:latin typeface="NotoSansKR"/>
              </a:rPr>
              <a:t>중지에서의 </a:t>
            </a:r>
            <a:r>
              <a:rPr lang="en-US" altLang="ko-KR" dirty="0">
                <a:latin typeface="NotoSansKR"/>
              </a:rPr>
              <a:t>MCP, PIP, DIP 3</a:t>
            </a:r>
            <a:r>
              <a:rPr lang="ko-KR" altLang="en-US" dirty="0">
                <a:latin typeface="NotoSansKR"/>
              </a:rPr>
              <a:t>자유도를 제어</a:t>
            </a:r>
            <a:endParaRPr lang="en-US" altLang="ko-KR" dirty="0">
              <a:latin typeface="NotoSansKR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b="0" i="0" dirty="0">
                <a:effectLst/>
                <a:latin typeface="NotoSansKR"/>
              </a:rPr>
              <a:t>주변 관절은 고정된 세팅</a:t>
            </a:r>
            <a:endParaRPr lang="en-US" altLang="ko-KR" b="0" i="0" dirty="0">
              <a:effectLst/>
              <a:latin typeface="NotoSansKR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ko-KR" dirty="0">
              <a:latin typeface="NotoSansKR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b="0" i="0" dirty="0">
                <a:effectLst/>
                <a:latin typeface="NotoSansKR"/>
              </a:rPr>
              <a:t>Target trajectory :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b="0" i="0" dirty="0" err="1">
                <a:effectLst/>
                <a:latin typeface="NotoSansKR"/>
              </a:rPr>
              <a:t>딱밤</a:t>
            </a:r>
            <a:r>
              <a:rPr lang="ko-KR" altLang="en-US" b="0" i="0" dirty="0">
                <a:effectLst/>
                <a:latin typeface="NotoSansKR"/>
              </a:rPr>
              <a:t> 동작이 포함된 </a:t>
            </a:r>
            <a:r>
              <a:rPr lang="en-US" altLang="ko-KR" b="0" i="0" dirty="0">
                <a:effectLst/>
                <a:latin typeface="NotoSansKR"/>
              </a:rPr>
              <a:t>150</a:t>
            </a:r>
            <a:r>
              <a:rPr lang="ko-KR" altLang="en-US" b="0" i="0" dirty="0">
                <a:effectLst/>
                <a:latin typeface="NotoSansKR"/>
              </a:rPr>
              <a:t>프레임 길이의 </a:t>
            </a:r>
            <a:r>
              <a:rPr lang="ko-KR" altLang="en-US" b="0" i="0" dirty="0" err="1">
                <a:effectLst/>
                <a:latin typeface="NotoSansKR"/>
              </a:rPr>
              <a:t>관절각</a:t>
            </a:r>
            <a:r>
              <a:rPr lang="ko-KR" altLang="en-US" b="0" i="0" dirty="0">
                <a:effectLst/>
                <a:latin typeface="NotoSansKR"/>
              </a:rPr>
              <a:t> 시퀀스</a:t>
            </a:r>
            <a:endParaRPr lang="en-US" altLang="ko-KR" b="0" i="0" dirty="0">
              <a:effectLst/>
              <a:latin typeface="NotoSansKR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b="0" i="0" dirty="0">
                <a:effectLst/>
                <a:latin typeface="NotoSansKR"/>
              </a:rPr>
              <a:t>초기 상태</a:t>
            </a:r>
            <a:endParaRPr lang="en-US" altLang="ko-KR" b="0" i="0" dirty="0">
              <a:effectLst/>
              <a:latin typeface="NotoSansKR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dirty="0">
                <a:latin typeface="NotoSansKR"/>
              </a:rPr>
              <a:t>매 </a:t>
            </a:r>
            <a:r>
              <a:rPr lang="en-US" altLang="ko-KR" dirty="0">
                <a:latin typeface="NotoSansKR"/>
              </a:rPr>
              <a:t>episode </a:t>
            </a:r>
            <a:r>
              <a:rPr lang="ko-KR" altLang="en-US" dirty="0">
                <a:latin typeface="NotoSansKR"/>
              </a:rPr>
              <a:t>시작 시 중지 관절각을 </a:t>
            </a:r>
            <a:r>
              <a:rPr lang="ko-KR" altLang="en-US" dirty="0" err="1">
                <a:latin typeface="NotoSansKR"/>
              </a:rPr>
              <a:t>첫프레임</a:t>
            </a:r>
            <a:r>
              <a:rPr lang="ko-KR" altLang="en-US" dirty="0">
                <a:latin typeface="NotoSansKR"/>
              </a:rPr>
              <a:t> 상태로 강제 세팅해 </a:t>
            </a:r>
            <a:r>
              <a:rPr lang="ko-KR" altLang="en-US" dirty="0" err="1">
                <a:latin typeface="NotoSansKR"/>
              </a:rPr>
              <a:t>시작포즈에서</a:t>
            </a:r>
            <a:r>
              <a:rPr lang="ko-KR" altLang="en-US" dirty="0">
                <a:latin typeface="NotoSansKR"/>
              </a:rPr>
              <a:t> 출발하도록 맞춤</a:t>
            </a:r>
            <a:br>
              <a:rPr lang="ko-KR" altLang="en-US" b="0" i="0" dirty="0">
                <a:effectLst/>
                <a:latin typeface="NotoSansKR"/>
              </a:rPr>
            </a:b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964151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222"/>
    </mc:Choice>
    <mc:Fallback xmlns="">
      <p:transition spd="slow" advTm="2222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3E5D70-67B4-3E8E-EEB6-B4FC9CD847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055BDA41-D8E2-6D1E-A7D6-84A832E19EAD}"/>
              </a:ext>
            </a:extLst>
          </p:cNvPr>
          <p:cNvSpPr txBox="1"/>
          <p:nvPr/>
        </p:nvSpPr>
        <p:spPr>
          <a:xfrm>
            <a:off x="880557" y="742224"/>
            <a:ext cx="14863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2400" b="1" spc="-60" dirty="0">
                <a:latin typeface="Pretendard Medium" panose="02000503000000020004" pitchFamily="2" charset="-127"/>
                <a:ea typeface="Pretendard Medium" panose="02000503000000020004" pitchFamily="2" charset="-127"/>
              </a:rPr>
              <a:t>실험 조건</a:t>
            </a:r>
            <a:endParaRPr kumimoji="1" lang="en-US" altLang="ko-KR" sz="2400" b="1" spc="-60" dirty="0">
              <a:latin typeface="Pretendard Medium" panose="02000503000000020004" pitchFamily="2" charset="-127"/>
              <a:ea typeface="Pretendard Medium" panose="02000503000000020004" pitchFamily="2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8CBF012-EED8-DD42-C23D-92C394656467}"/>
              </a:ext>
            </a:extLst>
          </p:cNvPr>
          <p:cNvSpPr/>
          <p:nvPr/>
        </p:nvSpPr>
        <p:spPr>
          <a:xfrm>
            <a:off x="714703" y="794381"/>
            <a:ext cx="147145" cy="357352"/>
          </a:xfrm>
          <a:prstGeom prst="rect">
            <a:avLst/>
          </a:prstGeom>
          <a:solidFill>
            <a:srgbClr val="DA0F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US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1813DCE-9E32-C09F-CF71-584E4C379047}"/>
              </a:ext>
            </a:extLst>
          </p:cNvPr>
          <p:cNvSpPr txBox="1"/>
          <p:nvPr/>
        </p:nvSpPr>
        <p:spPr>
          <a:xfrm>
            <a:off x="788275" y="1728738"/>
            <a:ext cx="9636820" cy="423994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>
                <a:solidFill>
                  <a:srgbClr val="000000"/>
                </a:solidFill>
                <a:latin typeface="NotoSansKR"/>
              </a:rPr>
              <a:t>Baseline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b="1" dirty="0">
                <a:solidFill>
                  <a:srgbClr val="000000"/>
                </a:solidFill>
                <a:latin typeface="NotoSansKR"/>
              </a:rPr>
              <a:t>기본 </a:t>
            </a:r>
            <a:r>
              <a:rPr lang="en-US" altLang="ko-KR" b="1" dirty="0">
                <a:solidFill>
                  <a:srgbClr val="000000"/>
                </a:solidFill>
                <a:latin typeface="NotoSansKR"/>
              </a:rPr>
              <a:t>reward weight + LR=1e-5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ko-KR" b="1" dirty="0">
              <a:solidFill>
                <a:srgbClr val="000000"/>
              </a:solidFill>
              <a:latin typeface="NotoSansKR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b="1" dirty="0">
                <a:solidFill>
                  <a:srgbClr val="000000"/>
                </a:solidFill>
                <a:latin typeface="NotoSansKR"/>
              </a:rPr>
              <a:t>Strong shape reward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b="1" dirty="0" err="1">
                <a:solidFill>
                  <a:srgbClr val="000000"/>
                </a:solidFill>
                <a:latin typeface="NotoSansKR"/>
              </a:rPr>
              <a:t>딱밤</a:t>
            </a:r>
            <a:r>
              <a:rPr lang="ko-KR" altLang="en-US" b="1" dirty="0">
                <a:solidFill>
                  <a:srgbClr val="000000"/>
                </a:solidFill>
                <a:latin typeface="NotoSansKR"/>
              </a:rPr>
              <a:t> 패턴 보상 계수인 </a:t>
            </a:r>
            <a:r>
              <a:rPr lang="en-US" altLang="ko-KR" b="1" dirty="0" err="1">
                <a:solidFill>
                  <a:srgbClr val="000000"/>
                </a:solidFill>
                <a:latin typeface="NotoSansKR"/>
              </a:rPr>
              <a:t>W_shape</a:t>
            </a:r>
            <a:r>
              <a:rPr lang="ko-KR" altLang="en-US" b="1" dirty="0">
                <a:solidFill>
                  <a:srgbClr val="000000"/>
                </a:solidFill>
                <a:latin typeface="NotoSansKR"/>
              </a:rPr>
              <a:t>를 크게 설정해 말리고 펴기 형태를 강조</a:t>
            </a:r>
            <a:endParaRPr lang="en-US" altLang="ko-KR" b="1" dirty="0">
              <a:solidFill>
                <a:srgbClr val="000000"/>
              </a:solidFill>
              <a:latin typeface="NotoSansKR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ko-KR" b="1" dirty="0">
              <a:solidFill>
                <a:srgbClr val="000000"/>
              </a:solidFill>
              <a:latin typeface="NotoSansKR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b="1" dirty="0">
                <a:solidFill>
                  <a:srgbClr val="000000"/>
                </a:solidFill>
                <a:latin typeface="NotoSansKR"/>
              </a:rPr>
              <a:t>Higher</a:t>
            </a:r>
            <a:r>
              <a:rPr lang="ko-KR" altLang="en-US" b="1" dirty="0">
                <a:solidFill>
                  <a:srgbClr val="000000"/>
                </a:solidFill>
                <a:latin typeface="NotoSansKR"/>
              </a:rPr>
              <a:t> </a:t>
            </a:r>
            <a:r>
              <a:rPr lang="en-US" altLang="ko-KR" b="1" dirty="0">
                <a:solidFill>
                  <a:srgbClr val="000000"/>
                </a:solidFill>
                <a:latin typeface="NotoSansKR"/>
              </a:rPr>
              <a:t>learning</a:t>
            </a:r>
            <a:r>
              <a:rPr lang="ko-KR" altLang="en-US" b="1" dirty="0">
                <a:solidFill>
                  <a:srgbClr val="000000"/>
                </a:solidFill>
                <a:latin typeface="NotoSansKR"/>
              </a:rPr>
              <a:t> </a:t>
            </a:r>
            <a:r>
              <a:rPr lang="en-US" altLang="ko-KR" b="1" dirty="0">
                <a:solidFill>
                  <a:srgbClr val="000000"/>
                </a:solidFill>
                <a:latin typeface="NotoSansKR"/>
              </a:rPr>
              <a:t>rate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b="1" dirty="0">
                <a:solidFill>
                  <a:srgbClr val="000000"/>
                </a:solidFill>
                <a:latin typeface="NotoSansKR"/>
              </a:rPr>
              <a:t>Learning rate</a:t>
            </a:r>
            <a:r>
              <a:rPr lang="ko-KR" altLang="en-US" b="1" dirty="0">
                <a:solidFill>
                  <a:srgbClr val="000000"/>
                </a:solidFill>
                <a:latin typeface="NotoSansKR"/>
              </a:rPr>
              <a:t>를 키워 수렴 속도 및 </a:t>
            </a:r>
            <a:r>
              <a:rPr lang="en-US" altLang="ko-KR" b="1" dirty="0">
                <a:solidFill>
                  <a:srgbClr val="000000"/>
                </a:solidFill>
                <a:latin typeface="NotoSansKR"/>
              </a:rPr>
              <a:t>exploration</a:t>
            </a:r>
            <a:r>
              <a:rPr lang="ko-KR" altLang="en-US" b="1" dirty="0">
                <a:solidFill>
                  <a:srgbClr val="000000"/>
                </a:solidFill>
                <a:latin typeface="NotoSansKR"/>
              </a:rPr>
              <a:t> 향상</a:t>
            </a:r>
            <a:endParaRPr lang="en-US" altLang="ko-KR" b="1" dirty="0">
              <a:solidFill>
                <a:srgbClr val="000000"/>
              </a:solidFill>
              <a:latin typeface="NotoSansKR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ko-KR" b="1" dirty="0">
              <a:solidFill>
                <a:srgbClr val="000000"/>
              </a:solidFill>
              <a:latin typeface="NotoSansKR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b="1" dirty="0">
                <a:solidFill>
                  <a:srgbClr val="000000"/>
                </a:solidFill>
                <a:latin typeface="NotoSansKR"/>
              </a:rPr>
              <a:t>각각의 설정마다 여러 랜덤 </a:t>
            </a:r>
            <a:r>
              <a:rPr lang="en-US" altLang="ko-KR" b="1" dirty="0">
                <a:solidFill>
                  <a:srgbClr val="000000"/>
                </a:solidFill>
                <a:latin typeface="NotoSansKR"/>
              </a:rPr>
              <a:t>seed</a:t>
            </a:r>
            <a:r>
              <a:rPr lang="ko-KR" altLang="en-US" b="1" dirty="0">
                <a:solidFill>
                  <a:srgbClr val="000000"/>
                </a:solidFill>
                <a:latin typeface="NotoSansKR"/>
              </a:rPr>
              <a:t>로 반복 학습 후 </a:t>
            </a:r>
            <a:r>
              <a:rPr lang="en-US" altLang="ko-KR" b="1" dirty="0" err="1">
                <a:solidFill>
                  <a:srgbClr val="000000"/>
                </a:solidFill>
                <a:latin typeface="NotoSansKR"/>
              </a:rPr>
              <a:t>mean+std</a:t>
            </a:r>
            <a:r>
              <a:rPr lang="en-US" altLang="ko-KR" b="1" dirty="0">
                <a:solidFill>
                  <a:srgbClr val="000000"/>
                </a:solidFill>
                <a:latin typeface="NotoSansKR"/>
              </a:rPr>
              <a:t> </a:t>
            </a:r>
            <a:r>
              <a:rPr lang="ko-KR" altLang="en-US" b="1" dirty="0">
                <a:solidFill>
                  <a:srgbClr val="000000"/>
                </a:solidFill>
                <a:latin typeface="NotoSansKR"/>
              </a:rPr>
              <a:t>집계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263200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222"/>
    </mc:Choice>
    <mc:Fallback xmlns="">
      <p:transition spd="slow" advTm="2222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FB4BF5-21D9-67F5-33E5-4437FC5818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63E3830F-3C98-AAFB-288D-5D243113D4CB}"/>
              </a:ext>
            </a:extLst>
          </p:cNvPr>
          <p:cNvSpPr txBox="1"/>
          <p:nvPr/>
        </p:nvSpPr>
        <p:spPr>
          <a:xfrm>
            <a:off x="880557" y="742224"/>
            <a:ext cx="35078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2400" b="1" spc="-60" dirty="0">
                <a:latin typeface="Pretendard Medium" panose="02000503000000020004" pitchFamily="2" charset="-127"/>
                <a:ea typeface="Pretendard Medium" panose="02000503000000020004" pitchFamily="2" charset="-127"/>
              </a:rPr>
              <a:t>최종 </a:t>
            </a:r>
            <a:r>
              <a:rPr kumimoji="1" lang="en-US" altLang="ko-KR" sz="2400" b="1" spc="-60" dirty="0">
                <a:latin typeface="Pretendard Medium" panose="02000503000000020004" pitchFamily="2" charset="-127"/>
                <a:ea typeface="Pretendard Medium" panose="02000503000000020004" pitchFamily="2" charset="-127"/>
              </a:rPr>
              <a:t>tracking error </a:t>
            </a:r>
            <a:r>
              <a:rPr kumimoji="1" lang="ko-KR" altLang="en-US" sz="2400" b="1" spc="-60" dirty="0">
                <a:latin typeface="Pretendard Medium" panose="02000503000000020004" pitchFamily="2" charset="-127"/>
                <a:ea typeface="Pretendard Medium" panose="02000503000000020004" pitchFamily="2" charset="-127"/>
              </a:rPr>
              <a:t>비교</a:t>
            </a:r>
            <a:endParaRPr kumimoji="1" lang="en-US" altLang="ko-KR" sz="2400" b="1" spc="-60" dirty="0">
              <a:latin typeface="Pretendard Medium" panose="02000503000000020004" pitchFamily="2" charset="-127"/>
              <a:ea typeface="Pretendard Medium" panose="02000503000000020004" pitchFamily="2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CE5946E-EA14-8457-8772-04E46370D1D3}"/>
              </a:ext>
            </a:extLst>
          </p:cNvPr>
          <p:cNvSpPr/>
          <p:nvPr/>
        </p:nvSpPr>
        <p:spPr>
          <a:xfrm>
            <a:off x="714703" y="794381"/>
            <a:ext cx="147145" cy="357352"/>
          </a:xfrm>
          <a:prstGeom prst="rect">
            <a:avLst/>
          </a:prstGeom>
          <a:solidFill>
            <a:srgbClr val="DA0F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US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4399DE9-E155-82B8-22C5-1D9309DD067B}"/>
              </a:ext>
            </a:extLst>
          </p:cNvPr>
          <p:cNvSpPr txBox="1"/>
          <p:nvPr/>
        </p:nvSpPr>
        <p:spPr>
          <a:xfrm>
            <a:off x="861848" y="5969099"/>
            <a:ext cx="9636820" cy="96795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>
                <a:solidFill>
                  <a:srgbClr val="000000"/>
                </a:solidFill>
                <a:latin typeface="NotoSansKR"/>
              </a:rPr>
              <a:t>Higher LR </a:t>
            </a:r>
            <a:r>
              <a:rPr lang="ko-KR" altLang="en-US" sz="2000" b="1" dirty="0">
                <a:solidFill>
                  <a:srgbClr val="000000"/>
                </a:solidFill>
                <a:latin typeface="NotoSansKR"/>
              </a:rPr>
              <a:t>설정에서 최종 </a:t>
            </a:r>
            <a:r>
              <a:rPr lang="en-US" altLang="ko-KR" sz="2000" b="1" dirty="0">
                <a:solidFill>
                  <a:srgbClr val="000000"/>
                </a:solidFill>
                <a:latin typeface="NotoSansKR"/>
              </a:rPr>
              <a:t>tracking error</a:t>
            </a:r>
            <a:r>
              <a:rPr lang="ko-KR" altLang="en-US" sz="2000" b="1" dirty="0">
                <a:solidFill>
                  <a:srgbClr val="000000"/>
                </a:solidFill>
                <a:latin typeface="NotoSansKR"/>
              </a:rPr>
              <a:t>가 가장 낮고</a:t>
            </a:r>
            <a:r>
              <a:rPr lang="en-US" altLang="ko-KR" sz="2000" b="1" dirty="0">
                <a:solidFill>
                  <a:srgbClr val="000000"/>
                </a:solidFill>
                <a:latin typeface="NotoSansKR"/>
              </a:rPr>
              <a:t>, </a:t>
            </a:r>
            <a:r>
              <a:rPr lang="ko-KR" altLang="en-US" sz="2000" b="1" dirty="0">
                <a:solidFill>
                  <a:srgbClr val="000000"/>
                </a:solidFill>
                <a:latin typeface="NotoSansKR"/>
              </a:rPr>
              <a:t>분산도 작다</a:t>
            </a:r>
            <a:r>
              <a:rPr lang="en-US" altLang="ko-KR" sz="2000" b="1" dirty="0">
                <a:solidFill>
                  <a:srgbClr val="000000"/>
                </a:solidFill>
                <a:latin typeface="NotoSansKR"/>
              </a:rPr>
              <a:t>.</a:t>
            </a: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>
                <a:solidFill>
                  <a:srgbClr val="000000"/>
                </a:solidFill>
                <a:latin typeface="NotoSansKR"/>
              </a:rPr>
              <a:t>Strong shape</a:t>
            </a:r>
            <a:r>
              <a:rPr lang="ko-KR" altLang="en-US" sz="2000" b="1" dirty="0">
                <a:solidFill>
                  <a:srgbClr val="000000"/>
                </a:solidFill>
                <a:latin typeface="NotoSansKR"/>
              </a:rPr>
              <a:t>는 </a:t>
            </a:r>
            <a:r>
              <a:rPr lang="en-US" altLang="ko-KR" sz="2000" b="1" dirty="0">
                <a:solidFill>
                  <a:srgbClr val="000000"/>
                </a:solidFill>
                <a:latin typeface="NotoSansKR"/>
              </a:rPr>
              <a:t>baseline </a:t>
            </a:r>
            <a:r>
              <a:rPr lang="ko-KR" altLang="en-US" sz="2000" b="1" dirty="0">
                <a:solidFill>
                  <a:srgbClr val="000000"/>
                </a:solidFill>
                <a:latin typeface="NotoSansKR"/>
              </a:rPr>
              <a:t>대비 소폭 개선 </a:t>
            </a:r>
            <a:r>
              <a:rPr lang="en-US" altLang="ko-KR" sz="2000" b="1" dirty="0">
                <a:solidFill>
                  <a:srgbClr val="000000"/>
                </a:solidFill>
                <a:latin typeface="NotoSansKR"/>
              </a:rPr>
              <a:t>-&gt; </a:t>
            </a:r>
            <a:r>
              <a:rPr lang="ko-KR" altLang="en-US" sz="2000" b="1" dirty="0">
                <a:solidFill>
                  <a:srgbClr val="000000"/>
                </a:solidFill>
                <a:latin typeface="NotoSansKR"/>
              </a:rPr>
              <a:t>패턴 보상이 </a:t>
            </a:r>
            <a:r>
              <a:rPr lang="en-US" altLang="ko-KR" sz="2000" b="1" dirty="0">
                <a:solidFill>
                  <a:srgbClr val="000000"/>
                </a:solidFill>
                <a:latin typeface="NotoSansKR"/>
              </a:rPr>
              <a:t>trajectory </a:t>
            </a:r>
            <a:r>
              <a:rPr lang="ko-KR" altLang="en-US" sz="2000" b="1" dirty="0">
                <a:solidFill>
                  <a:srgbClr val="000000"/>
                </a:solidFill>
                <a:latin typeface="NotoSansKR"/>
              </a:rPr>
              <a:t>품질 향상에 기여</a:t>
            </a:r>
            <a:endParaRPr lang="en-US" altLang="ko-KR" sz="2000" b="1" dirty="0">
              <a:solidFill>
                <a:srgbClr val="000000"/>
              </a:solidFill>
              <a:latin typeface="NotoSansKR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BBAA736-C9B3-B6C8-1FA0-AC43769995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0863" y="1203889"/>
            <a:ext cx="7514638" cy="4628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29075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222"/>
    </mc:Choice>
    <mc:Fallback xmlns="">
      <p:transition spd="slow" advTm="2222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D5638B-ED2B-DF86-21F0-3BABC76F3D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71F99929-CDAF-9C9E-A3F8-4B1EF069D109}"/>
              </a:ext>
            </a:extLst>
          </p:cNvPr>
          <p:cNvSpPr txBox="1"/>
          <p:nvPr/>
        </p:nvSpPr>
        <p:spPr>
          <a:xfrm>
            <a:off x="880557" y="742224"/>
            <a:ext cx="55236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2400" b="1" spc="-60" dirty="0">
                <a:latin typeface="Pretendard Medium" panose="02000503000000020004" pitchFamily="2" charset="-127"/>
                <a:ea typeface="Pretendard Medium" panose="02000503000000020004" pitchFamily="2" charset="-127"/>
              </a:rPr>
              <a:t>PPO</a:t>
            </a:r>
            <a:r>
              <a:rPr kumimoji="1" lang="ko-KR" altLang="en-US" sz="2400" b="1" spc="-60" dirty="0">
                <a:latin typeface="Pretendard Medium" panose="02000503000000020004" pitchFamily="2" charset="-127"/>
                <a:ea typeface="Pretendard Medium" panose="02000503000000020004" pitchFamily="2" charset="-127"/>
              </a:rPr>
              <a:t> </a:t>
            </a:r>
            <a:r>
              <a:rPr kumimoji="1" lang="en-US" altLang="ko-KR" sz="2400" b="1" spc="-60" dirty="0">
                <a:latin typeface="Pretendard Medium" panose="02000503000000020004" pitchFamily="2" charset="-127"/>
                <a:ea typeface="Pretendard Medium" panose="02000503000000020004" pitchFamily="2" charset="-127"/>
              </a:rPr>
              <a:t>learning</a:t>
            </a:r>
            <a:r>
              <a:rPr kumimoji="1" lang="ko-KR" altLang="en-US" sz="2400" b="1" spc="-60" dirty="0">
                <a:latin typeface="Pretendard Medium" panose="02000503000000020004" pitchFamily="2" charset="-127"/>
                <a:ea typeface="Pretendard Medium" panose="02000503000000020004" pitchFamily="2" charset="-127"/>
              </a:rPr>
              <a:t> </a:t>
            </a:r>
            <a:r>
              <a:rPr kumimoji="1" lang="en-US" altLang="ko-KR" sz="2400" b="1" spc="-60" dirty="0">
                <a:latin typeface="Pretendard Medium" panose="02000503000000020004" pitchFamily="2" charset="-127"/>
                <a:ea typeface="Pretendard Medium" panose="02000503000000020004" pitchFamily="2" charset="-127"/>
              </a:rPr>
              <a:t>Curves ( episode return)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948FF90-2D53-C0FD-273F-7804412B816D}"/>
              </a:ext>
            </a:extLst>
          </p:cNvPr>
          <p:cNvSpPr/>
          <p:nvPr/>
        </p:nvSpPr>
        <p:spPr>
          <a:xfrm>
            <a:off x="714703" y="794381"/>
            <a:ext cx="147145" cy="357352"/>
          </a:xfrm>
          <a:prstGeom prst="rect">
            <a:avLst/>
          </a:prstGeom>
          <a:solidFill>
            <a:srgbClr val="DA0F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US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B253BE8-70CC-9E27-B5C9-362D3DE69A93}"/>
              </a:ext>
            </a:extLst>
          </p:cNvPr>
          <p:cNvSpPr txBox="1"/>
          <p:nvPr/>
        </p:nvSpPr>
        <p:spPr>
          <a:xfrm>
            <a:off x="880557" y="5510502"/>
            <a:ext cx="9636820" cy="189128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>
                <a:solidFill>
                  <a:srgbClr val="000000"/>
                </a:solidFill>
                <a:latin typeface="NotoSansKR"/>
              </a:rPr>
              <a:t>Higher </a:t>
            </a:r>
            <a:r>
              <a:rPr lang="en-US" altLang="ko-KR" sz="2000" b="1" dirty="0" err="1">
                <a:solidFill>
                  <a:srgbClr val="000000"/>
                </a:solidFill>
                <a:latin typeface="NotoSansKR"/>
              </a:rPr>
              <a:t>lr</a:t>
            </a:r>
            <a:r>
              <a:rPr lang="en-US" altLang="ko-KR" sz="2000" b="1" dirty="0">
                <a:solidFill>
                  <a:srgbClr val="000000"/>
                </a:solidFill>
                <a:latin typeface="NotoSansKR"/>
              </a:rPr>
              <a:t>: </a:t>
            </a:r>
            <a:r>
              <a:rPr lang="ko-KR" altLang="en-US" sz="2000" b="1" dirty="0">
                <a:solidFill>
                  <a:srgbClr val="000000"/>
                </a:solidFill>
                <a:latin typeface="NotoSansKR"/>
              </a:rPr>
              <a:t>가장 빠르게 </a:t>
            </a:r>
            <a:r>
              <a:rPr lang="en-US" altLang="ko-KR" sz="2000" b="1" dirty="0">
                <a:solidFill>
                  <a:srgbClr val="000000"/>
                </a:solidFill>
                <a:latin typeface="NotoSansKR"/>
              </a:rPr>
              <a:t>return</a:t>
            </a:r>
            <a:r>
              <a:rPr lang="ko-KR" altLang="en-US" sz="2000" b="1" dirty="0">
                <a:solidFill>
                  <a:srgbClr val="000000"/>
                </a:solidFill>
                <a:latin typeface="NotoSansKR"/>
              </a:rPr>
              <a:t>이 상승하며 수렴</a:t>
            </a:r>
            <a:endParaRPr lang="en-US" altLang="ko-KR" sz="2000" b="1" dirty="0">
              <a:solidFill>
                <a:srgbClr val="000000"/>
              </a:solidFill>
              <a:latin typeface="NotoSansKR"/>
            </a:endParaRP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>
                <a:solidFill>
                  <a:srgbClr val="000000"/>
                </a:solidFill>
                <a:latin typeface="NotoSansKR"/>
              </a:rPr>
              <a:t>Baseline:</a:t>
            </a:r>
            <a:r>
              <a:rPr lang="ko-KR" altLang="en-US" sz="2000" b="1" dirty="0">
                <a:solidFill>
                  <a:srgbClr val="000000"/>
                </a:solidFill>
                <a:latin typeface="NotoSansKR"/>
              </a:rPr>
              <a:t> 완만하지만 꾸준한 성능 향상</a:t>
            </a:r>
            <a:endParaRPr lang="en-US" altLang="ko-KR" sz="2000" b="1" dirty="0">
              <a:solidFill>
                <a:srgbClr val="000000"/>
              </a:solidFill>
              <a:latin typeface="NotoSansKR"/>
            </a:endParaRP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>
                <a:solidFill>
                  <a:srgbClr val="000000"/>
                </a:solidFill>
                <a:latin typeface="NotoSansKR"/>
              </a:rPr>
              <a:t>Strong</a:t>
            </a:r>
            <a:r>
              <a:rPr lang="ko-KR" altLang="en-US" sz="2000" b="1" dirty="0">
                <a:solidFill>
                  <a:srgbClr val="000000"/>
                </a:solidFill>
                <a:latin typeface="NotoSansKR"/>
              </a:rPr>
              <a:t> </a:t>
            </a:r>
            <a:r>
              <a:rPr lang="en-US" altLang="ko-KR" sz="2000" b="1" dirty="0">
                <a:solidFill>
                  <a:srgbClr val="000000"/>
                </a:solidFill>
                <a:latin typeface="NotoSansKR"/>
              </a:rPr>
              <a:t>shape:</a:t>
            </a:r>
            <a:r>
              <a:rPr lang="ko-KR" altLang="en-US" sz="2000" b="1" dirty="0">
                <a:solidFill>
                  <a:srgbClr val="000000"/>
                </a:solidFill>
                <a:latin typeface="NotoSansKR"/>
              </a:rPr>
              <a:t> 초반에는 </a:t>
            </a:r>
            <a:r>
              <a:rPr lang="en-US" altLang="ko-KR" sz="2000" b="1" dirty="0">
                <a:solidFill>
                  <a:srgbClr val="000000"/>
                </a:solidFill>
                <a:latin typeface="NotoSansKR"/>
              </a:rPr>
              <a:t>shape term </a:t>
            </a:r>
            <a:r>
              <a:rPr lang="ko-KR" altLang="en-US" sz="2000" b="1" dirty="0">
                <a:solidFill>
                  <a:srgbClr val="000000"/>
                </a:solidFill>
                <a:latin typeface="NotoSansKR"/>
              </a:rPr>
              <a:t>영향으로 학습이 느리지만</a:t>
            </a:r>
            <a:r>
              <a:rPr lang="en-US" altLang="ko-KR" sz="2000" b="1" dirty="0">
                <a:solidFill>
                  <a:srgbClr val="000000"/>
                </a:solidFill>
                <a:latin typeface="NotoSansKR"/>
              </a:rPr>
              <a:t>, </a:t>
            </a:r>
            <a:r>
              <a:rPr lang="ko-KR" altLang="en-US" sz="2000" b="1" dirty="0">
                <a:solidFill>
                  <a:srgbClr val="000000"/>
                </a:solidFill>
                <a:latin typeface="NotoSansKR"/>
              </a:rPr>
              <a:t>후반에 회복</a:t>
            </a:r>
            <a:endParaRPr lang="en-US" altLang="ko-KR" sz="2000" b="1" dirty="0">
              <a:solidFill>
                <a:srgbClr val="000000"/>
              </a:solidFill>
              <a:latin typeface="NotoSansKR"/>
            </a:endParaRP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ko-KR" sz="2000" b="1" dirty="0">
              <a:solidFill>
                <a:srgbClr val="000000"/>
              </a:solidFill>
              <a:latin typeface="NotoSansKR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1384E66-72DB-1B60-28BA-8F7731A965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5500" y="1203889"/>
            <a:ext cx="8001000" cy="3910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58200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222"/>
    </mc:Choice>
    <mc:Fallback xmlns="">
      <p:transition spd="slow" advTm="2222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7BDAF5-EF8B-F2B0-DC27-095719BBA6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52DAF9D-5AE4-F6B7-1881-EC3C16544C20}"/>
              </a:ext>
            </a:extLst>
          </p:cNvPr>
          <p:cNvSpPr txBox="1"/>
          <p:nvPr/>
        </p:nvSpPr>
        <p:spPr>
          <a:xfrm>
            <a:off x="880557" y="742224"/>
            <a:ext cx="2031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2400" b="1" spc="-60" dirty="0">
                <a:latin typeface="Pretendard Medium" panose="02000503000000020004" pitchFamily="2" charset="-127"/>
                <a:ea typeface="Pretendard Medium" panose="02000503000000020004" pitchFamily="2" charset="-127"/>
              </a:rPr>
              <a:t>Discussion	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18C2129-45B8-A24A-BED1-8FAC9ECA60B7}"/>
              </a:ext>
            </a:extLst>
          </p:cNvPr>
          <p:cNvSpPr/>
          <p:nvPr/>
        </p:nvSpPr>
        <p:spPr>
          <a:xfrm>
            <a:off x="714703" y="794381"/>
            <a:ext cx="147145" cy="357352"/>
          </a:xfrm>
          <a:prstGeom prst="rect">
            <a:avLst/>
          </a:prstGeom>
          <a:solidFill>
            <a:srgbClr val="DA0F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US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93A8D0D-7367-792B-3ADE-D65DBADD2842}"/>
              </a:ext>
            </a:extLst>
          </p:cNvPr>
          <p:cNvSpPr txBox="1"/>
          <p:nvPr/>
        </p:nvSpPr>
        <p:spPr>
          <a:xfrm>
            <a:off x="880557" y="2163145"/>
            <a:ext cx="9636820" cy="465877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2000" b="1" dirty="0">
                <a:solidFill>
                  <a:srgbClr val="000000"/>
                </a:solidFill>
                <a:latin typeface="NotoSansKR"/>
              </a:rPr>
              <a:t>실제 </a:t>
            </a:r>
            <a:r>
              <a:rPr lang="ko-KR" altLang="en-US" sz="2000" b="1" dirty="0" err="1">
                <a:solidFill>
                  <a:srgbClr val="000000"/>
                </a:solidFill>
                <a:latin typeface="NotoSansKR"/>
              </a:rPr>
              <a:t>딱밤</a:t>
            </a:r>
            <a:r>
              <a:rPr lang="ko-KR" altLang="en-US" sz="2000" b="1" dirty="0">
                <a:solidFill>
                  <a:srgbClr val="000000"/>
                </a:solidFill>
                <a:latin typeface="NotoSansKR"/>
              </a:rPr>
              <a:t> 모션 모사 가능성 확인</a:t>
            </a:r>
            <a:endParaRPr lang="en-US" altLang="ko-KR" sz="2000" b="1" dirty="0">
              <a:solidFill>
                <a:srgbClr val="000000"/>
              </a:solidFill>
              <a:latin typeface="NotoSansKR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2000" b="1" dirty="0">
                <a:solidFill>
                  <a:srgbClr val="000000"/>
                </a:solidFill>
                <a:latin typeface="NotoSansKR"/>
              </a:rPr>
              <a:t>세가지 설정 모두 중지 </a:t>
            </a:r>
            <a:r>
              <a:rPr lang="en-US" altLang="ko-KR" sz="2000" b="1" dirty="0">
                <a:solidFill>
                  <a:srgbClr val="000000"/>
                </a:solidFill>
                <a:latin typeface="NotoSansKR"/>
              </a:rPr>
              <a:t>MCP/PIP/DIP </a:t>
            </a:r>
            <a:r>
              <a:rPr lang="ko-KR" altLang="en-US" sz="2000" b="1" dirty="0">
                <a:solidFill>
                  <a:srgbClr val="000000"/>
                </a:solidFill>
                <a:latin typeface="NotoSansKR"/>
              </a:rPr>
              <a:t>궤적을 따라가며 학습</a:t>
            </a:r>
            <a:endParaRPr lang="en-US" altLang="ko-KR" sz="2000" b="1" dirty="0">
              <a:solidFill>
                <a:srgbClr val="000000"/>
              </a:solidFill>
              <a:latin typeface="NotoSansKR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>
                <a:solidFill>
                  <a:srgbClr val="000000"/>
                </a:solidFill>
                <a:latin typeface="NotoSansKR"/>
              </a:rPr>
              <a:t>Baseline</a:t>
            </a:r>
            <a:r>
              <a:rPr lang="ko-KR" altLang="en-US" sz="2000" b="1" dirty="0">
                <a:solidFill>
                  <a:srgbClr val="000000"/>
                </a:solidFill>
                <a:latin typeface="NotoSansKR"/>
              </a:rPr>
              <a:t> </a:t>
            </a:r>
            <a:r>
              <a:rPr lang="en-US" altLang="ko-KR" sz="2000" b="1" dirty="0">
                <a:solidFill>
                  <a:srgbClr val="000000"/>
                </a:solidFill>
                <a:latin typeface="NotoSansKR"/>
              </a:rPr>
              <a:t>vs</a:t>
            </a:r>
            <a:r>
              <a:rPr lang="ko-KR" altLang="en-US" sz="2000" b="1" dirty="0">
                <a:solidFill>
                  <a:srgbClr val="000000"/>
                </a:solidFill>
                <a:latin typeface="NotoSansKR"/>
              </a:rPr>
              <a:t> </a:t>
            </a:r>
            <a:r>
              <a:rPr lang="en-US" altLang="ko-KR" sz="2000" b="1" dirty="0">
                <a:solidFill>
                  <a:srgbClr val="000000"/>
                </a:solidFill>
                <a:latin typeface="NotoSansKR"/>
              </a:rPr>
              <a:t>Strong shape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>
                <a:solidFill>
                  <a:srgbClr val="000000"/>
                </a:solidFill>
                <a:latin typeface="NotoSansKR"/>
              </a:rPr>
              <a:t>Strong shape</a:t>
            </a:r>
            <a:r>
              <a:rPr lang="ko-KR" altLang="en-US" sz="2000" b="1" dirty="0">
                <a:solidFill>
                  <a:srgbClr val="000000"/>
                </a:solidFill>
                <a:latin typeface="NotoSansKR"/>
              </a:rPr>
              <a:t>는 </a:t>
            </a:r>
            <a:r>
              <a:rPr lang="en-US" altLang="ko-KR" sz="2000" b="1" dirty="0">
                <a:solidFill>
                  <a:srgbClr val="000000"/>
                </a:solidFill>
                <a:latin typeface="NotoSansKR"/>
              </a:rPr>
              <a:t>return </a:t>
            </a:r>
            <a:r>
              <a:rPr lang="ko-KR" altLang="en-US" sz="2000" b="1" dirty="0">
                <a:solidFill>
                  <a:srgbClr val="000000"/>
                </a:solidFill>
                <a:latin typeface="NotoSansKR"/>
              </a:rPr>
              <a:t>상승 속도는 느리지만</a:t>
            </a:r>
            <a:endParaRPr lang="en-US" altLang="ko-KR" sz="2000" b="1" dirty="0">
              <a:solidFill>
                <a:srgbClr val="000000"/>
              </a:solidFill>
              <a:latin typeface="NotoSansKR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2000" b="1" dirty="0">
                <a:solidFill>
                  <a:srgbClr val="000000"/>
                </a:solidFill>
                <a:latin typeface="NotoSansKR"/>
              </a:rPr>
              <a:t>초반 </a:t>
            </a:r>
            <a:r>
              <a:rPr lang="en-US" altLang="ko-KR" sz="2000" b="1" dirty="0">
                <a:solidFill>
                  <a:srgbClr val="000000"/>
                </a:solidFill>
                <a:latin typeface="NotoSansKR"/>
              </a:rPr>
              <a:t>flex, </a:t>
            </a:r>
            <a:r>
              <a:rPr lang="ko-KR" altLang="en-US" sz="2000" b="1" dirty="0">
                <a:solidFill>
                  <a:srgbClr val="000000"/>
                </a:solidFill>
                <a:latin typeface="NotoSansKR"/>
              </a:rPr>
              <a:t>후반 </a:t>
            </a:r>
            <a:r>
              <a:rPr lang="en-US" altLang="ko-KR" sz="2000" b="1" dirty="0">
                <a:solidFill>
                  <a:srgbClr val="000000"/>
                </a:solidFill>
                <a:latin typeface="NotoSansKR"/>
              </a:rPr>
              <a:t>extend </a:t>
            </a:r>
            <a:r>
              <a:rPr lang="ko-KR" altLang="en-US" sz="2000" b="1" dirty="0">
                <a:solidFill>
                  <a:srgbClr val="000000"/>
                </a:solidFill>
                <a:latin typeface="NotoSansKR"/>
              </a:rPr>
              <a:t>패턴을 강하게 강제해</a:t>
            </a:r>
            <a:endParaRPr lang="en-US" altLang="ko-KR" sz="2000" b="1" dirty="0">
              <a:solidFill>
                <a:srgbClr val="000000"/>
              </a:solidFill>
              <a:latin typeface="NotoSansKR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2000" b="1" dirty="0">
                <a:solidFill>
                  <a:srgbClr val="000000"/>
                </a:solidFill>
                <a:latin typeface="NotoSansKR"/>
              </a:rPr>
              <a:t>최종 </a:t>
            </a:r>
            <a:r>
              <a:rPr lang="en-US" altLang="ko-KR" sz="2000" b="1" dirty="0">
                <a:solidFill>
                  <a:srgbClr val="000000"/>
                </a:solidFill>
                <a:latin typeface="NotoSansKR"/>
              </a:rPr>
              <a:t>tracking error</a:t>
            </a:r>
            <a:r>
              <a:rPr lang="ko-KR" altLang="en-US" sz="2000" b="1" dirty="0">
                <a:solidFill>
                  <a:srgbClr val="000000"/>
                </a:solidFill>
                <a:latin typeface="NotoSansKR"/>
              </a:rPr>
              <a:t>가 </a:t>
            </a:r>
            <a:r>
              <a:rPr lang="en-US" altLang="ko-KR" sz="2000" b="1" dirty="0">
                <a:solidFill>
                  <a:srgbClr val="000000"/>
                </a:solidFill>
                <a:latin typeface="NotoSansKR"/>
              </a:rPr>
              <a:t>baseline</a:t>
            </a:r>
            <a:r>
              <a:rPr lang="ko-KR" altLang="en-US" sz="2000" b="1" dirty="0">
                <a:solidFill>
                  <a:srgbClr val="000000"/>
                </a:solidFill>
                <a:latin typeface="NotoSansKR"/>
              </a:rPr>
              <a:t>보다 향상</a:t>
            </a:r>
            <a:endParaRPr lang="en-US" altLang="ko-KR" sz="2000" b="1" dirty="0">
              <a:solidFill>
                <a:srgbClr val="000000"/>
              </a:solidFill>
              <a:latin typeface="NotoSansKR"/>
            </a:endParaRP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>
                <a:solidFill>
                  <a:srgbClr val="000000"/>
                </a:solidFill>
                <a:latin typeface="NotoSansKR"/>
              </a:rPr>
              <a:t>Higher LR </a:t>
            </a:r>
            <a:r>
              <a:rPr lang="ko-KR" altLang="en-US" sz="2000" b="1" dirty="0">
                <a:solidFill>
                  <a:srgbClr val="000000"/>
                </a:solidFill>
                <a:latin typeface="NotoSansKR"/>
              </a:rPr>
              <a:t>효과</a:t>
            </a:r>
            <a:endParaRPr lang="en-US" altLang="ko-KR" sz="2000" b="1" dirty="0">
              <a:solidFill>
                <a:srgbClr val="000000"/>
              </a:solidFill>
              <a:latin typeface="NotoSansKR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2000" b="1" dirty="0">
                <a:solidFill>
                  <a:srgbClr val="000000"/>
                </a:solidFill>
                <a:latin typeface="NotoSansKR"/>
              </a:rPr>
              <a:t>학습 초반부터 </a:t>
            </a:r>
            <a:r>
              <a:rPr lang="en-US" altLang="ko-KR" sz="2000" b="1" dirty="0">
                <a:solidFill>
                  <a:srgbClr val="000000"/>
                </a:solidFill>
                <a:latin typeface="NotoSansKR"/>
              </a:rPr>
              <a:t>return</a:t>
            </a:r>
            <a:r>
              <a:rPr lang="ko-KR" altLang="en-US" sz="2000" b="1" dirty="0">
                <a:solidFill>
                  <a:srgbClr val="000000"/>
                </a:solidFill>
                <a:latin typeface="NotoSansKR"/>
              </a:rPr>
              <a:t>이 빠르게 증가하고</a:t>
            </a:r>
            <a:endParaRPr lang="en-US" altLang="ko-KR" sz="2000" b="1" dirty="0">
              <a:solidFill>
                <a:srgbClr val="000000"/>
              </a:solidFill>
              <a:latin typeface="NotoSansKR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2000" b="1" dirty="0">
                <a:solidFill>
                  <a:srgbClr val="000000"/>
                </a:solidFill>
                <a:latin typeface="NotoSansKR"/>
              </a:rPr>
              <a:t>마지막 </a:t>
            </a:r>
            <a:r>
              <a:rPr lang="en-US" altLang="ko-KR" sz="2000" b="1" dirty="0">
                <a:solidFill>
                  <a:srgbClr val="000000"/>
                </a:solidFill>
                <a:latin typeface="NotoSansKR"/>
              </a:rPr>
              <a:t>tracking error</a:t>
            </a:r>
            <a:r>
              <a:rPr lang="ko-KR" altLang="en-US" sz="2000" b="1" dirty="0">
                <a:solidFill>
                  <a:srgbClr val="000000"/>
                </a:solidFill>
                <a:latin typeface="NotoSansKR"/>
              </a:rPr>
              <a:t>도 가장 작아</a:t>
            </a:r>
            <a:r>
              <a:rPr lang="en-US" altLang="ko-KR" sz="2000" b="1" dirty="0">
                <a:solidFill>
                  <a:srgbClr val="000000"/>
                </a:solidFill>
                <a:latin typeface="NotoSansKR"/>
              </a:rPr>
              <a:t>, </a:t>
            </a:r>
            <a:r>
              <a:rPr lang="ko-KR" altLang="en-US" sz="2000" b="1" dirty="0">
                <a:solidFill>
                  <a:srgbClr val="000000"/>
                </a:solidFill>
                <a:latin typeface="NotoSansKR"/>
              </a:rPr>
              <a:t>이 셋업에선 </a:t>
            </a:r>
            <a:r>
              <a:rPr lang="en-US" altLang="ko-KR" sz="2000" b="1" dirty="0">
                <a:solidFill>
                  <a:srgbClr val="000000"/>
                </a:solidFill>
                <a:latin typeface="NotoSansKR"/>
              </a:rPr>
              <a:t>aggressive</a:t>
            </a:r>
            <a:r>
              <a:rPr lang="ko-KR" altLang="en-US" sz="2000" b="1" dirty="0">
                <a:solidFill>
                  <a:srgbClr val="000000"/>
                </a:solidFill>
                <a:latin typeface="NotoSansKR"/>
              </a:rPr>
              <a:t>한 </a:t>
            </a:r>
            <a:r>
              <a:rPr lang="ko-KR" altLang="en-US" sz="2000" b="1" dirty="0" err="1">
                <a:solidFill>
                  <a:srgbClr val="000000"/>
                </a:solidFill>
                <a:latin typeface="NotoSansKR"/>
              </a:rPr>
              <a:t>학습률이</a:t>
            </a:r>
            <a:r>
              <a:rPr lang="ko-KR" altLang="en-US" sz="2000" b="1" dirty="0">
                <a:solidFill>
                  <a:srgbClr val="000000"/>
                </a:solidFill>
                <a:latin typeface="NotoSansKR"/>
              </a:rPr>
              <a:t> 유리한 경향을 보임</a:t>
            </a:r>
            <a:r>
              <a:rPr lang="en-US" altLang="ko-KR" sz="2000" b="1" dirty="0">
                <a:solidFill>
                  <a:srgbClr val="000000"/>
                </a:solidFill>
                <a:latin typeface="NotoSansKR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45452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222"/>
    </mc:Choice>
    <mc:Fallback xmlns="">
      <p:transition spd="slow" advTm="2222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5AD372-536A-6838-D106-EB094AC46D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CDBA099B-C4DC-700F-BB59-E93912228EF3}"/>
              </a:ext>
            </a:extLst>
          </p:cNvPr>
          <p:cNvSpPr txBox="1"/>
          <p:nvPr/>
        </p:nvSpPr>
        <p:spPr>
          <a:xfrm>
            <a:off x="880557" y="742224"/>
            <a:ext cx="15856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2400" b="1" spc="-60" dirty="0">
                <a:latin typeface="Pretendard Medium" panose="02000503000000020004" pitchFamily="2" charset="-127"/>
                <a:ea typeface="Pretendard Medium" panose="02000503000000020004" pitchFamily="2" charset="-127"/>
              </a:rPr>
              <a:t>Limitation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607E91F-F26F-FE5D-6851-8A6EC74160F5}"/>
              </a:ext>
            </a:extLst>
          </p:cNvPr>
          <p:cNvSpPr/>
          <p:nvPr/>
        </p:nvSpPr>
        <p:spPr>
          <a:xfrm>
            <a:off x="714703" y="794381"/>
            <a:ext cx="147145" cy="357352"/>
          </a:xfrm>
          <a:prstGeom prst="rect">
            <a:avLst/>
          </a:prstGeom>
          <a:solidFill>
            <a:srgbClr val="DA0F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US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1605B1B-59C7-24CA-0710-CE1B763C5A01}"/>
              </a:ext>
            </a:extLst>
          </p:cNvPr>
          <p:cNvSpPr txBox="1"/>
          <p:nvPr/>
        </p:nvSpPr>
        <p:spPr>
          <a:xfrm>
            <a:off x="880557" y="2163145"/>
            <a:ext cx="9636820" cy="373794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2000" b="1" dirty="0">
                <a:solidFill>
                  <a:srgbClr val="000000"/>
                </a:solidFill>
                <a:latin typeface="NotoSansKR"/>
              </a:rPr>
              <a:t>현재는 </a:t>
            </a:r>
            <a:r>
              <a:rPr lang="ko-KR" altLang="en-US" sz="2000" b="1" dirty="0" err="1">
                <a:solidFill>
                  <a:srgbClr val="000000"/>
                </a:solidFill>
                <a:latin typeface="NotoSansKR"/>
              </a:rPr>
              <a:t>관절각</a:t>
            </a:r>
            <a:r>
              <a:rPr lang="ko-KR" altLang="en-US" sz="2000" b="1" dirty="0">
                <a:solidFill>
                  <a:srgbClr val="000000"/>
                </a:solidFill>
                <a:latin typeface="NotoSansKR"/>
              </a:rPr>
              <a:t> </a:t>
            </a:r>
            <a:r>
              <a:rPr lang="en-US" altLang="ko-KR" sz="2000" b="1" dirty="0">
                <a:solidFill>
                  <a:srgbClr val="000000"/>
                </a:solidFill>
                <a:latin typeface="NotoSansKR"/>
              </a:rPr>
              <a:t>tracking+ </a:t>
            </a:r>
            <a:r>
              <a:rPr lang="ko-KR" altLang="en-US" sz="2000" b="1" dirty="0">
                <a:solidFill>
                  <a:srgbClr val="000000"/>
                </a:solidFill>
                <a:latin typeface="NotoSansKR"/>
              </a:rPr>
              <a:t>간단한 </a:t>
            </a:r>
            <a:r>
              <a:rPr lang="en-US" altLang="ko-KR" sz="2000" b="1" dirty="0">
                <a:solidFill>
                  <a:srgbClr val="000000"/>
                </a:solidFill>
                <a:latin typeface="NotoSansKR"/>
              </a:rPr>
              <a:t>shape+ final</a:t>
            </a:r>
            <a:r>
              <a:rPr lang="ko-KR" altLang="en-US" sz="2000" b="1" dirty="0">
                <a:solidFill>
                  <a:srgbClr val="000000"/>
                </a:solidFill>
                <a:latin typeface="NotoSansKR"/>
              </a:rPr>
              <a:t> </a:t>
            </a:r>
            <a:r>
              <a:rPr lang="en-US" altLang="ko-KR" sz="2000" b="1" dirty="0">
                <a:solidFill>
                  <a:srgbClr val="000000"/>
                </a:solidFill>
                <a:latin typeface="NotoSansKR"/>
              </a:rPr>
              <a:t>state</a:t>
            </a:r>
            <a:r>
              <a:rPr lang="ko-KR" altLang="en-US" sz="2000" b="1" dirty="0">
                <a:solidFill>
                  <a:srgbClr val="000000"/>
                </a:solidFill>
                <a:latin typeface="NotoSansKR"/>
              </a:rPr>
              <a:t> </a:t>
            </a:r>
            <a:r>
              <a:rPr lang="en-US" altLang="ko-KR" sz="2000" b="1" dirty="0">
                <a:solidFill>
                  <a:srgbClr val="000000"/>
                </a:solidFill>
                <a:latin typeface="NotoSansKR"/>
              </a:rPr>
              <a:t>bonus</a:t>
            </a:r>
            <a:r>
              <a:rPr lang="ko-KR" altLang="en-US" sz="2000" b="1" dirty="0">
                <a:solidFill>
                  <a:srgbClr val="000000"/>
                </a:solidFill>
                <a:latin typeface="NotoSansKR"/>
              </a:rPr>
              <a:t>에 집중</a:t>
            </a:r>
            <a:endParaRPr lang="en-US" altLang="ko-KR" sz="2000" b="1" dirty="0">
              <a:solidFill>
                <a:srgbClr val="000000"/>
              </a:solidFill>
              <a:latin typeface="NotoSansKR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2000" b="1" dirty="0">
                <a:solidFill>
                  <a:srgbClr val="000000"/>
                </a:solidFill>
                <a:latin typeface="NotoSansKR"/>
              </a:rPr>
              <a:t>향후에는 관절 속도</a:t>
            </a:r>
            <a:r>
              <a:rPr lang="en-US" altLang="ko-KR" sz="2000" b="1" dirty="0">
                <a:solidFill>
                  <a:srgbClr val="000000"/>
                </a:solidFill>
                <a:latin typeface="NotoSansKR"/>
              </a:rPr>
              <a:t>/</a:t>
            </a:r>
            <a:r>
              <a:rPr lang="ko-KR" altLang="en-US" sz="2000" b="1" dirty="0">
                <a:solidFill>
                  <a:srgbClr val="000000"/>
                </a:solidFill>
                <a:latin typeface="NotoSansKR"/>
              </a:rPr>
              <a:t>가속도 </a:t>
            </a:r>
            <a:r>
              <a:rPr lang="en-US" altLang="ko-KR" sz="2000" b="1" dirty="0">
                <a:solidFill>
                  <a:srgbClr val="000000"/>
                </a:solidFill>
                <a:latin typeface="NotoSansKR"/>
              </a:rPr>
              <a:t>smoothness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2000" b="1" dirty="0">
                <a:solidFill>
                  <a:srgbClr val="000000"/>
                </a:solidFill>
                <a:latin typeface="NotoSansKR"/>
              </a:rPr>
              <a:t>토크 사용량</a:t>
            </a:r>
            <a:r>
              <a:rPr lang="en-US" altLang="ko-KR" sz="2000" b="1" dirty="0">
                <a:solidFill>
                  <a:srgbClr val="000000"/>
                </a:solidFill>
                <a:latin typeface="NotoSansKR"/>
              </a:rPr>
              <a:t>/ </a:t>
            </a:r>
            <a:r>
              <a:rPr lang="ko-KR" altLang="en-US" sz="2000" b="1" dirty="0">
                <a:solidFill>
                  <a:srgbClr val="000000"/>
                </a:solidFill>
                <a:latin typeface="NotoSansKR"/>
              </a:rPr>
              <a:t>피크 토크 페널티 등 물리적으로 </a:t>
            </a:r>
            <a:r>
              <a:rPr lang="ko-KR" altLang="en-US" sz="2000" b="1" dirty="0" err="1">
                <a:solidFill>
                  <a:srgbClr val="000000"/>
                </a:solidFill>
                <a:latin typeface="NotoSansKR"/>
              </a:rPr>
              <a:t>의미있는</a:t>
            </a:r>
            <a:r>
              <a:rPr lang="ko-KR" altLang="en-US" sz="2000" b="1" dirty="0">
                <a:solidFill>
                  <a:srgbClr val="000000"/>
                </a:solidFill>
                <a:latin typeface="NotoSansKR"/>
              </a:rPr>
              <a:t> 항 추가</a:t>
            </a:r>
            <a:endParaRPr lang="en-US" altLang="ko-KR" sz="2000" b="1" dirty="0">
              <a:solidFill>
                <a:srgbClr val="000000"/>
              </a:solidFill>
              <a:latin typeface="NotoSansKR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2000" b="1" dirty="0">
                <a:solidFill>
                  <a:srgbClr val="000000"/>
                </a:solidFill>
                <a:latin typeface="NotoSansKR"/>
              </a:rPr>
              <a:t>실험 신뢰도 강화</a:t>
            </a:r>
            <a:endParaRPr lang="en-US" altLang="ko-KR" sz="2000" b="1" dirty="0">
              <a:solidFill>
                <a:srgbClr val="000000"/>
              </a:solidFill>
              <a:latin typeface="NotoSansKR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>
                <a:solidFill>
                  <a:srgbClr val="000000"/>
                </a:solidFill>
                <a:latin typeface="NotoSansKR"/>
              </a:rPr>
              <a:t>Seed </a:t>
            </a:r>
            <a:r>
              <a:rPr lang="ko-KR" altLang="en-US" sz="2000" b="1" dirty="0">
                <a:solidFill>
                  <a:srgbClr val="000000"/>
                </a:solidFill>
                <a:latin typeface="NotoSansKR"/>
              </a:rPr>
              <a:t>개수를 늘려 </a:t>
            </a:r>
            <a:r>
              <a:rPr lang="en-US" altLang="ko-KR" sz="2000" b="1" dirty="0">
                <a:solidFill>
                  <a:srgbClr val="000000"/>
                </a:solidFill>
                <a:latin typeface="NotoSansKR"/>
              </a:rPr>
              <a:t>95% CI</a:t>
            </a:r>
            <a:r>
              <a:rPr lang="ko-KR" altLang="en-US" sz="2000" b="1" dirty="0">
                <a:solidFill>
                  <a:srgbClr val="000000"/>
                </a:solidFill>
                <a:latin typeface="NotoSansKR"/>
              </a:rPr>
              <a:t>등도 함께 제시</a:t>
            </a:r>
            <a:endParaRPr lang="en-US" altLang="ko-KR" sz="2000" b="1" dirty="0">
              <a:solidFill>
                <a:srgbClr val="000000"/>
              </a:solidFill>
              <a:latin typeface="NotoSansKR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2000" b="1" dirty="0">
                <a:solidFill>
                  <a:srgbClr val="000000"/>
                </a:solidFill>
                <a:latin typeface="NotoSansKR"/>
              </a:rPr>
              <a:t>정책</a:t>
            </a:r>
            <a:r>
              <a:rPr lang="en-US" altLang="ko-KR" sz="2000" b="1" dirty="0">
                <a:solidFill>
                  <a:srgbClr val="000000"/>
                </a:solidFill>
                <a:latin typeface="NotoSansKR"/>
              </a:rPr>
              <a:t>/ </a:t>
            </a:r>
            <a:r>
              <a:rPr lang="ko-KR" altLang="en-US" sz="2000" b="1" dirty="0">
                <a:solidFill>
                  <a:srgbClr val="000000"/>
                </a:solidFill>
                <a:latin typeface="NotoSansKR"/>
              </a:rPr>
              <a:t>알고리즘 측면</a:t>
            </a:r>
            <a:endParaRPr lang="en-US" altLang="ko-KR" sz="2000" b="1" dirty="0">
              <a:solidFill>
                <a:srgbClr val="000000"/>
              </a:solidFill>
              <a:latin typeface="NotoSansKR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>
                <a:solidFill>
                  <a:srgbClr val="000000"/>
                </a:solidFill>
                <a:latin typeface="NotoSansKR"/>
              </a:rPr>
              <a:t>PPO </a:t>
            </a:r>
            <a:r>
              <a:rPr lang="ko-KR" altLang="en-US" sz="2000" b="1" dirty="0">
                <a:solidFill>
                  <a:srgbClr val="000000"/>
                </a:solidFill>
                <a:latin typeface="NotoSansKR"/>
              </a:rPr>
              <a:t>이외에 </a:t>
            </a:r>
            <a:r>
              <a:rPr lang="en-US" altLang="ko-KR" sz="2000" b="1" dirty="0">
                <a:solidFill>
                  <a:srgbClr val="000000"/>
                </a:solidFill>
                <a:latin typeface="NotoSansKR"/>
              </a:rPr>
              <a:t>SAC / TD3</a:t>
            </a:r>
            <a:r>
              <a:rPr lang="ko-KR" altLang="en-US" sz="2000" b="1" dirty="0">
                <a:solidFill>
                  <a:srgbClr val="000000"/>
                </a:solidFill>
                <a:latin typeface="NotoSansKR"/>
              </a:rPr>
              <a:t> 등 </a:t>
            </a:r>
            <a:r>
              <a:rPr lang="en-US" altLang="ko-KR" sz="2000" b="1" dirty="0">
                <a:solidFill>
                  <a:srgbClr val="000000"/>
                </a:solidFill>
                <a:latin typeface="NotoSansKR"/>
              </a:rPr>
              <a:t>continuous control </a:t>
            </a:r>
            <a:r>
              <a:rPr lang="ko-KR" altLang="en-US" sz="2000" b="1" dirty="0">
                <a:solidFill>
                  <a:srgbClr val="000000"/>
                </a:solidFill>
                <a:latin typeface="NotoSansKR"/>
              </a:rPr>
              <a:t>알고리즘과 비교실험</a:t>
            </a:r>
            <a:endParaRPr lang="en-US" altLang="ko-KR" sz="2000" b="1" dirty="0">
              <a:solidFill>
                <a:srgbClr val="000000"/>
              </a:solidFill>
              <a:latin typeface="NotoSansKR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>
                <a:solidFill>
                  <a:srgbClr val="000000"/>
                </a:solidFill>
                <a:latin typeface="NotoSansKR"/>
              </a:rPr>
              <a:t>BC-like warm start</a:t>
            </a:r>
            <a:r>
              <a:rPr lang="ko-KR" altLang="en-US" sz="2000" b="1" dirty="0">
                <a:solidFill>
                  <a:srgbClr val="000000"/>
                </a:solidFill>
                <a:latin typeface="NotoSansKR"/>
              </a:rPr>
              <a:t>를 더 구조적으로 적용</a:t>
            </a:r>
            <a:endParaRPr lang="en-US" altLang="ko-KR" sz="2000" b="1" dirty="0">
              <a:solidFill>
                <a:srgbClr val="000000"/>
              </a:solidFill>
              <a:latin typeface="NotoSansKR"/>
            </a:endParaRPr>
          </a:p>
        </p:txBody>
      </p:sp>
    </p:spTree>
    <p:extLst>
      <p:ext uri="{BB962C8B-B14F-4D97-AF65-F5344CB8AC3E}">
        <p14:creationId xmlns:p14="http://schemas.microsoft.com/office/powerpoint/2010/main" val="11578892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222"/>
    </mc:Choice>
    <mc:Fallback xmlns="">
      <p:transition spd="slow" advTm="2222"/>
    </mc:Fallback>
  </mc:AlternateContent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B41431B8F0E27C4C9DF7AFE73B31A8EC" ma:contentTypeVersion="7" ma:contentTypeDescription="새 문서를 만듭니다." ma:contentTypeScope="" ma:versionID="0e45e33b91495aa281cfaad256d4d9f5">
  <xsd:schema xmlns:xsd="http://www.w3.org/2001/XMLSchema" xmlns:xs="http://www.w3.org/2001/XMLSchema" xmlns:p="http://schemas.microsoft.com/office/2006/metadata/properties" xmlns:ns3="9af5f27a-e140-4976-ae6b-5c7b7f60fc4c" targetNamespace="http://schemas.microsoft.com/office/2006/metadata/properties" ma:root="true" ma:fieldsID="61af0df6664b2f57147410dd1f213ad0" ns3:_="">
    <xsd:import namespace="9af5f27a-e140-4976-ae6b-5c7b7f60fc4c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SystemTags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af5f27a-e140-4976-ae6b-5c7b7f60fc4c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1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2A9880A-0146-44C2-8F1F-9410AC272B53}">
  <ds:schemaRefs>
    <ds:schemaRef ds:uri="http://schemas.microsoft.com/office/2006/documentManagement/types"/>
    <ds:schemaRef ds:uri="http://purl.org/dc/dcmitype/"/>
    <ds:schemaRef ds:uri="http://schemas.openxmlformats.org/package/2006/metadata/core-properties"/>
    <ds:schemaRef ds:uri="http://purl.org/dc/terms/"/>
    <ds:schemaRef ds:uri="http://www.w3.org/XML/1998/namespace"/>
    <ds:schemaRef ds:uri="http://schemas.microsoft.com/office/infopath/2007/PartnerControls"/>
    <ds:schemaRef ds:uri="9af5f27a-e140-4976-ae6b-5c7b7f60fc4c"/>
    <ds:schemaRef ds:uri="http://schemas.microsoft.com/office/2006/metadata/properties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272ABDF8-A4E1-47F6-BDEB-90618F555EE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af5f27a-e140-4976-ae6b-5c7b7f60fc4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E381D9E-3962-46AE-AB05-A3F5CA45E58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1765</TotalTime>
  <Words>824</Words>
  <Application>Microsoft Office PowerPoint</Application>
  <PresentationFormat>와이드스크린</PresentationFormat>
  <Paragraphs>149</Paragraphs>
  <Slides>15</Slides>
  <Notes>15</Notes>
  <HiddenSlides>0</HiddenSlides>
  <MMClips>1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21" baseType="lpstr">
      <vt:lpstr>NotoSansKR</vt:lpstr>
      <vt:lpstr>Pretendard Medium</vt:lpstr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박동규</dc:creator>
  <cp:lastModifiedBy>박동규</cp:lastModifiedBy>
  <cp:revision>39</cp:revision>
  <dcterms:created xsi:type="dcterms:W3CDTF">2025-11-25T05:46:21Z</dcterms:created>
  <dcterms:modified xsi:type="dcterms:W3CDTF">2025-12-07T09:12:04Z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0x010100B41431B8F0E27C4C9DF7AFE73B31A8EC</vt:lpwstr>
  </property>
</Properties>
</file>